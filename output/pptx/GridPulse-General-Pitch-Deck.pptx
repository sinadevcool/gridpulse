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972adec42442ca" /><Relationship Type="http://schemas.openxmlformats.org/officeDocument/2006/relationships/extended-properties" Target="/docProps/app.xml" Id="R22f3141e769347c6" /><Relationship Type="http://schemas.openxmlformats.org/officeDocument/2006/relationships/officeDocument" Target="/ppt/presentation.xml" Id="Rc3225bc503ac45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5d755a938241fd"/>
  </p:sldMasterIdLst>
  <p:notesMasterIdLst>
    <p:notesMasterId xmlns:r="http://schemas.openxmlformats.org/officeDocument/2006/relationships" r:id="R1103792f58124a87"/>
  </p:notesMasterIdLst>
  <p:sldIdLst>
    <p:sldId xmlns:r="http://schemas.openxmlformats.org/officeDocument/2006/relationships" id="256" r:id="R3a6e5128927845ad"/>
    <p:sldId xmlns:r="http://schemas.openxmlformats.org/officeDocument/2006/relationships" id="257" r:id="Re0c8a73ab2294f97"/>
    <p:sldId xmlns:r="http://schemas.openxmlformats.org/officeDocument/2006/relationships" id="258" r:id="R6d7b2a7b10454ca6"/>
    <p:sldId xmlns:r="http://schemas.openxmlformats.org/officeDocument/2006/relationships" id="259" r:id="Rd3722c7aed544b63"/>
    <p:sldId xmlns:r="http://schemas.openxmlformats.org/officeDocument/2006/relationships" id="260" r:id="Rdc163f33081f4d8f"/>
    <p:sldId xmlns:r="http://schemas.openxmlformats.org/officeDocument/2006/relationships" id="261" r:id="R211b4a640ccb4288"/>
    <p:sldId xmlns:r="http://schemas.openxmlformats.org/officeDocument/2006/relationships" id="262" r:id="Ra7e84e3fb29949bd"/>
    <p:sldId xmlns:r="http://schemas.openxmlformats.org/officeDocument/2006/relationships" id="263" r:id="Rbae125d460f44c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a702bfab23403c" /><Relationship Type="http://schemas.openxmlformats.org/officeDocument/2006/relationships/slideMaster" Target="/ppt/slideMasters/slideMaster1.xml" Id="R6a5d755a938241fd" /><Relationship Type="http://schemas.openxmlformats.org/officeDocument/2006/relationships/notesMaster" Target="/ppt/notesMasters/notesMaster1.xml" Id="R1103792f58124a87" /><Relationship Type="http://schemas.openxmlformats.org/officeDocument/2006/relationships/presProps" Target="/ppt/presProps.xml" Id="Rece452506d374862" /><Relationship Type="http://schemas.openxmlformats.org/officeDocument/2006/relationships/tableStyles" Target="/ppt/tableStyles.xml" Id="Rf9b764c0303346b0" /><Relationship Type="http://schemas.openxmlformats.org/officeDocument/2006/relationships/slide" Target="/ppt/slides/slide1.xml" Id="R3a6e5128927845ad" /><Relationship Type="http://schemas.openxmlformats.org/officeDocument/2006/relationships/slide" Target="/ppt/slides/slide2.xml" Id="Re0c8a73ab2294f97" /><Relationship Type="http://schemas.openxmlformats.org/officeDocument/2006/relationships/slide" Target="/ppt/slides/slide3.xml" Id="R6d7b2a7b10454ca6" /><Relationship Type="http://schemas.openxmlformats.org/officeDocument/2006/relationships/slide" Target="/ppt/slides/slide4.xml" Id="Rd3722c7aed544b63" /><Relationship Type="http://schemas.openxmlformats.org/officeDocument/2006/relationships/slide" Target="/ppt/slides/slide5.xml" Id="Rdc163f33081f4d8f" /><Relationship Type="http://schemas.openxmlformats.org/officeDocument/2006/relationships/slide" Target="/ppt/slides/slide6.xml" Id="R211b4a640ccb4288" /><Relationship Type="http://schemas.openxmlformats.org/officeDocument/2006/relationships/slide" Target="/ppt/slides/slide7.xml" Id="Ra7e84e3fb29949bd" /><Relationship Type="http://schemas.openxmlformats.org/officeDocument/2006/relationships/slide" Target="/ppt/slides/slide8.xml" Id="Rbae125d460f44c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a9cbc665dc4e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4610e85d4e44b2" /><Relationship Type="http://schemas.openxmlformats.org/officeDocument/2006/relationships/notesMaster" Target="/ppt/notesMasters/notesMaster1.xml" Id="Rb1f87489fc484f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ef486bb41d4db5" /><Relationship Type="http://schemas.openxmlformats.org/officeDocument/2006/relationships/notesMaster" Target="/ppt/notesMasters/notesMaster1.xml" Id="Rf3b0cdb03f4949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3107d80bc14a4b" /><Relationship Type="http://schemas.openxmlformats.org/officeDocument/2006/relationships/notesMaster" Target="/ppt/notesMasters/notesMaster1.xml" Id="Rfeea1075c8554c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fe3554c12d4fbb" /><Relationship Type="http://schemas.openxmlformats.org/officeDocument/2006/relationships/notesMaster" Target="/ppt/notesMasters/notesMaster1.xml" Id="R99dd0d9787a24d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01fec9bf474433" /><Relationship Type="http://schemas.openxmlformats.org/officeDocument/2006/relationships/notesMaster" Target="/ppt/notesMasters/notesMaster1.xml" Id="R3b668d71092e4e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9df10657904496" /><Relationship Type="http://schemas.openxmlformats.org/officeDocument/2006/relationships/notesMaster" Target="/ppt/notesMasters/notesMaster1.xml" Id="R3c063f2472c446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99cffced89466b" /><Relationship Type="http://schemas.openxmlformats.org/officeDocument/2006/relationships/notesMaster" Target="/ppt/notesMasters/notesMaster1.xml" Id="Re231cdbb8cdf43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6b5ee67eea4208" /><Relationship Type="http://schemas.openxmlformats.org/officeDocument/2006/relationships/notesMaster" Target="/ppt/notesMasters/notesMaster1.xml" Id="R2de6eea945ac47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GridPulse helps developers decide where to spend diligence effort before entering a long utility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company positioning and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GridPulse does not replace the operator. It reduces wasted cycles by screening earlier.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GridPulse.pdf, source slides 3–4 (user-provided deck)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the result is a prioritized investigation path, not a promise of connection capacity.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GridPulse.pdf, source slide 5 and 7 (user-provided deck)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single MW figure creates false precision. The core output is a scenario-aware envelope with confidence, limiting factors and evidence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GridPulse.pdf, source slide 7 (user-provided deck)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asked about models: describe a hybrid stack—power-system simulation for feasibility, forecasting and probabilistic methods for uncertainty, and machine learning for ranking and pattern extraction. Never present a public-data result as operator-confirmed.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GridPulse.pdf, source slide 7 (user-provided deck)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these as early interview signals, not booked revenue or contractual traction. Keep the claim precise.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GridPulse.pdf, source slide 6 (user-provided deck)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founder-level CV summary. The application form asks for full CV uploads separately; do not treat this slide as a substitute for those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GridPulse.pdf, source slide 2 (user-provided deck)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general invitation. This wording is deliberately program-neutral and works for investors, accelerators, partners and prospective customers.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company positioning and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20b5d258046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d75e8faee149d8" /><Relationship Type="http://schemas.openxmlformats.org/officeDocument/2006/relationships/slideLayout" Target="/ppt/slideLayouts/slideLayout1.xml" Id="R1f21d08ea57c4f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21d08ea57c4f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157b0effd463c" /><Relationship Type="http://schemas.openxmlformats.org/officeDocument/2006/relationships/notesSlide" Target="/ppt/notesSlides/notesSlide1.xml" Id="Rbd82513d80264a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ab65c454d4d41" /><Relationship Type="http://schemas.openxmlformats.org/officeDocument/2006/relationships/notesSlide" Target="/ppt/notesSlides/notesSlide2.xml" Id="Rbb3d9203669c40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f857b4d44412d" /><Relationship Type="http://schemas.openxmlformats.org/officeDocument/2006/relationships/notesSlide" Target="/ppt/notesSlides/notesSlide3.xml" Id="R8d3f0576b77146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d4c8efeca4447" /><Relationship Type="http://schemas.openxmlformats.org/officeDocument/2006/relationships/notesSlide" Target="/ppt/notesSlides/notesSlide4.xml" Id="R9859dd769d784c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d7f7bd4424a25" /><Relationship Type="http://schemas.openxmlformats.org/officeDocument/2006/relationships/notesSlide" Target="/ppt/notesSlides/notesSlide5.xml" Id="Rfd746ecafafa4b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95721548b4761" /><Relationship Type="http://schemas.openxmlformats.org/officeDocument/2006/relationships/notesSlide" Target="/ppt/notesSlides/notesSlide6.xml" Id="R5011e7822b1c48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2a92998f941d9" /><Relationship Type="http://schemas.openxmlformats.org/officeDocument/2006/relationships/notesSlide" Target="/ppt/notesSlides/notesSlide7.xml" Id="Rd6c2e0d4488340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6e6e255024ab2" /><Relationship Type="http://schemas.openxmlformats.org/officeDocument/2006/relationships/notesSlide" Target="/ppt/notesSlides/notesSlide8.xml" Id="R131e6493988743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E4433-AB54-4438-9191-232F4DCB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B9DA4"/>
                </a:solidFill>
              </a:defRPr>
            </a:pPr>
            <a:r>
              <a:rPr sz="975" b="1" i="0">
                <a:solidFill>
                  <a:srgbClr val="9B9DA4"/>
                </a:solidFill>
              </a:rPr>
              <a:t>GRIDPULSE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E7C60-B7FF-429A-8F7D-F90F763F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5F5F7"/>
                </a:solidFill>
              </a:defRPr>
            </a:pPr>
            <a:r>
              <a:rPr sz="4200" b="1" i="0">
                <a:solidFill>
                  <a:srgbClr val="F5F5F7"/>
                </a:solidFill>
              </a:rPr>
              <a:t>Where a large 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1AA73-C2CA-4F32-B8BE-B075357A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5F87"/>
                </a:solidFill>
              </a:defRPr>
            </a:pPr>
            <a:r>
              <a:rPr sz="4200" b="1" i="0">
                <a:solidFill>
                  <a:srgbClr val="FF5F87"/>
                </a:solidFill>
              </a:rPr>
              <a:t>can actually connect.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1B4EF-720A-4B38-9E74-B0A6FCBF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5F5F7"/>
                </a:solidFill>
              </a:defRPr>
            </a:pPr>
            <a:r>
              <a:rPr sz="1800" b="0" i="0">
                <a:solidFill>
                  <a:srgbClr val="F5F5F7"/>
                </a:solidFill>
              </a:rPr>
              <a:t>Grid-capacity intelligence for data-centre site selection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473A0-B9C5-42EF-B10F-213B527C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B9DA4"/>
                </a:solidFill>
              </a:defRPr>
            </a:pPr>
            <a:r>
              <a:rPr sz="1425" b="0" i="0">
                <a:solidFill>
                  <a:srgbClr val="9B9DA4"/>
                </a:solidFill>
              </a:rPr>
              <a:t>Screen candidate sites, quantify uncertainty, and prepare an evidence-backed path to operator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48CCE-FBFD-44B5-ADDD-4F673776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GENERAL COMPANY DECK</a:t>
            </a:r>
          </a:p>
        </p:txBody>
      </p:sp>
    </p:spTree>
    <p:extLst>
      <p:ext uri="{BB962C8B-B14F-4D97-AF65-F5344CB8AC3E}">
        <p14:creationId xmlns:p14="http://schemas.microsoft.com/office/powerpoint/2010/main" val="695241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3BD1F-F1EA-4CDE-9D03-97B8F522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02   /  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3374E-C387-41D7-8069-D8956E12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GRIDPULSE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48FB2-8AE3-4DE5-ABCC-16DAFEB7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5F7"/>
                </a:solidFill>
              </a:defRPr>
            </a:pPr>
            <a:r>
              <a:rPr sz="2850" b="1" i="0">
                <a:solidFill>
                  <a:srgbClr val="F5F5F7"/>
                </a:solidFill>
              </a:rPr>
              <a:t>The grid is not a late-stage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98DBF-FDA4-42B7-8D31-62A12A78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5F87"/>
                </a:solidFill>
              </a:defRPr>
            </a:pPr>
            <a:r>
              <a:rPr sz="2850" b="1" i="0">
                <a:solidFill>
                  <a:srgbClr val="FF5F87"/>
                </a:solidFill>
              </a:rPr>
              <a:t>It decides whether the project exists.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F29F3-4AB5-4B83-9F00-89AC4317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45672-E31B-4FD9-B5C1-3206F289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608"/>
                </a:solidFill>
              </a:defRPr>
            </a:pPr>
            <a:r>
              <a:rPr sz="1125" b="1" i="0">
                <a:solidFill>
                  <a:srgbClr val="05060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2E0EC-A3CE-4A7B-A481-0125E7A3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5F7"/>
                </a:solidFill>
              </a:defRPr>
            </a:pPr>
            <a:r>
              <a:rPr sz="1350" b="0" i="0">
                <a:solidFill>
                  <a:srgbClr val="F5F5F7"/>
                </a:solidFill>
              </a:rPr>
              <a:t>Write to the relevant operator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2D5BF-9AF3-4ED1-8FEA-E7673939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0EB26-F3F6-4F25-86FB-F7827F47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608"/>
                </a:solidFill>
              </a:defRPr>
            </a:pPr>
            <a:r>
              <a:rPr sz="1125" b="1" i="0">
                <a:solidFill>
                  <a:srgbClr val="050608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EAB27-EFB1-458A-BB28-1DCE27A4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5F7"/>
                </a:solidFill>
              </a:defRPr>
            </a:pPr>
            <a:r>
              <a:rPr sz="1350" b="0" i="0">
                <a:solidFill>
                  <a:srgbClr val="F5F5F7"/>
                </a:solidFill>
              </a:rPr>
              <a:t>Wait while the request moves internally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3F36B-FFD6-4B60-B856-597674B6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6F6EB-E011-47F8-9763-55575966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608"/>
                </a:solidFill>
              </a:defRPr>
            </a:pPr>
            <a:r>
              <a:rPr sz="1125" b="1" i="0">
                <a:solidFill>
                  <a:srgbClr val="050608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07838-4CE0-4970-BC08-9F9463AE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5F7"/>
                </a:solidFill>
              </a:defRPr>
            </a:pPr>
            <a:r>
              <a:rPr sz="1350" b="0" i="0">
                <a:solidFill>
                  <a:srgbClr val="F5F5F7"/>
                </a:solidFill>
              </a:rPr>
              <a:t>Network specialists test the connection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5CD1E-B296-48D5-A55D-5DCF7195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D7C50-7B05-4B27-9E5F-DC873BCC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608"/>
                </a:solidFill>
              </a:defRPr>
            </a:pPr>
            <a:r>
              <a:rPr sz="1125" b="1" i="0">
                <a:solidFill>
                  <a:srgbClr val="050608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A1F03-2316-4F86-9074-393C891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5F7"/>
                </a:solidFill>
              </a:defRPr>
            </a:pPr>
            <a:r>
              <a:rPr sz="1350" b="1" i="0">
                <a:solidFill>
                  <a:srgbClr val="F5F5F7"/>
                </a:solidFill>
              </a:rPr>
              <a:t>Receive an answer—often after site capital is committed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5D85F-21B5-40B4-B281-AC9FE988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38375"/>
            <a:ext cx="4429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534D6-23F5-43DF-9057-AE06FA9C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5F87"/>
                </a:solidFill>
              </a:defRPr>
            </a:pPr>
            <a:r>
              <a:rPr sz="900" b="1" i="0">
                <a:solidFill>
                  <a:srgbClr val="FF5F87"/>
                </a:solidFill>
              </a:rPr>
              <a:t>THE COST OF UNCERTAINTY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C08CC-4E61-4A44-9270-BE590F4D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5F7"/>
                </a:solidFill>
              </a:defRPr>
            </a:pPr>
            <a:r>
              <a:rPr sz="2025" b="1" i="0">
                <a:solidFill>
                  <a:srgbClr val="F5F5F7"/>
                </a:solidFill>
              </a:rPr>
              <a:t>A “no” can mean a new site,</a:t>
            </a:r>
          </a:p>
          <a:p xmlns:a="http://schemas.openxmlformats.org/drawingml/2006/main">
            <a:pPr algn="l">
              <a:defRPr sz="2025" b="1" i="0">
                <a:solidFill>
                  <a:srgbClr val="F5F5F7"/>
                </a:solidFill>
              </a:defRPr>
            </a:pPr>
            <a:r>
              <a:rPr sz="2025" b="1" i="0">
                <a:solidFill>
                  <a:srgbClr val="F5F5F7"/>
                </a:solidFill>
              </a:rPr>
              <a:t>a new request, and the wait</a:t>
            </a:r>
          </a:p>
          <a:p xmlns:a="http://schemas.openxmlformats.org/drawingml/2006/main">
            <a:pPr algn="l">
              <a:defRPr sz="2025" b="1" i="0">
                <a:solidFill>
                  <a:srgbClr val="F5F5F7"/>
                </a:solidFill>
              </a:defRPr>
            </a:pPr>
            <a:r>
              <a:rPr sz="2025" b="1" i="0">
                <a:solidFill>
                  <a:srgbClr val="F5F5F7"/>
                </a:solidFill>
              </a:rPr>
              <a:t>starts again.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63646-AD4B-49BD-B1AE-49DF5A72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24375"/>
            <a:ext cx="4429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63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03F0B-1B9C-488B-8C60-9E23E96E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58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5F7"/>
                </a:solidFill>
              </a:defRPr>
            </a:pPr>
            <a:r>
              <a:rPr sz="1500" b="1" i="0">
                <a:solidFill>
                  <a:srgbClr val="F5F5F7"/>
                </a:solidFill>
              </a:rPr>
              <a:t>GridPulse moves grid feasibility to the start of site selection.</a:t>
            </a:r>
          </a:p>
        </p:txBody>
      </p:sp>
    </p:spTree>
    <p:extLst>
      <p:ext uri="{BB962C8B-B14F-4D97-AF65-F5344CB8AC3E}">
        <p14:creationId xmlns:p14="http://schemas.microsoft.com/office/powerpoint/2010/main" val="1192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560FA8-D5D8-41CC-BF8A-A76AEE5E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03   /   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844EB-3428-4D1A-BA98-7631C12D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GRIDPULSE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43EF7-6832-4ADC-925C-52419567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5F7"/>
                </a:solidFill>
              </a:defRPr>
            </a:pPr>
            <a:r>
              <a:rPr sz="2850" b="1" i="0">
                <a:solidFill>
                  <a:srgbClr val="F5F5F7"/>
                </a:solidFill>
              </a:rPr>
              <a:t>Drop a pin.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9CB86-32B6-481B-B98F-11FEFB98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5F87"/>
                </a:solidFill>
              </a:defRPr>
            </a:pPr>
            <a:r>
              <a:rPr sz="2850" b="1" i="0">
                <a:solidFill>
                  <a:srgbClr val="FF5F87"/>
                </a:solidFill>
              </a:rPr>
              <a:t>We rank the grid around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CAE33-50AB-47A8-8EDF-93538AD5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26193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3377C-A4AC-4257-8746-69081DA1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71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41E2F-894B-4A0B-8B80-B5B94F44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608"/>
                </a:solidFill>
              </a:defRPr>
            </a:pPr>
            <a:r>
              <a:rPr sz="1125" b="1" i="0">
                <a:solidFill>
                  <a:srgbClr val="050608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DCAE3-F919-4A16-999B-04E3DD7D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003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5F87"/>
                </a:solidFill>
              </a:defRPr>
            </a:pPr>
            <a:r>
              <a:rPr sz="900" b="1" i="0">
                <a:solidFill>
                  <a:srgbClr val="FF5F87"/>
                </a:solidFill>
              </a:rPr>
              <a:t>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52E74-E9A5-4129-9B4E-46782A23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5F7"/>
                </a:solidFill>
              </a:defRPr>
            </a:pPr>
            <a:r>
              <a:rPr sz="1725" b="1" i="0">
                <a:solidFill>
                  <a:srgbClr val="F5F5F7"/>
                </a:solidFill>
              </a:rPr>
              <a:t>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8573F-182C-4BC8-8B97-29187210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5F7"/>
                </a:solidFill>
              </a:defRPr>
            </a:pPr>
            <a:r>
              <a:rPr sz="1200" b="0" i="0">
                <a:solidFill>
                  <a:srgbClr val="F5F5F7"/>
                </a:solidFill>
              </a:rPr>
              <a:t>Coordinates, land boundary and infrastructure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1309C-E045-42CA-B9BC-1BD970FB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670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6D7E5"/>
                </a:solidFill>
              </a:defRPr>
            </a:pPr>
            <a:r>
              <a:rPr sz="2100" b="1" i="0">
                <a:solidFill>
                  <a:srgbClr val="26D7E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1C704-A7D0-4DEA-85D3-05DCE5AE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6193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CA0EE-01C9-4C5D-9407-DABC4890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71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FFBEE-B115-4820-87AE-F4C4A7BF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608"/>
                </a:solidFill>
              </a:defRPr>
            </a:pPr>
            <a:r>
              <a:rPr sz="1125" b="1" i="0">
                <a:solidFill>
                  <a:srgbClr val="05060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65DFB-7D9C-4370-8C1B-77AA483E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003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5F87"/>
                </a:solidFill>
              </a:defRPr>
            </a:pPr>
            <a:r>
              <a:rPr sz="900" b="1" i="0">
                <a:solidFill>
                  <a:srgbClr val="FF5F87"/>
                </a:solidFill>
              </a:rPr>
              <a:t>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118A5-96A6-40F1-A2BC-321603C9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5F7"/>
                </a:solidFill>
              </a:defRPr>
            </a:pPr>
            <a:r>
              <a:rPr sz="1725" b="1" i="0">
                <a:solidFill>
                  <a:srgbClr val="F5F5F7"/>
                </a:solidFill>
              </a:rPr>
              <a:t>Demand 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C9DC3-9A36-4F83-8CDA-C9D917D9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5F7"/>
                </a:solidFill>
              </a:defRPr>
            </a:pPr>
            <a:r>
              <a:rPr sz="1200" b="0" i="0">
                <a:solidFill>
                  <a:srgbClr val="F5F5F7"/>
                </a:solidFill>
              </a:rPr>
              <a:t>MW requirement, timing, reliability and flexibility.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F953A-229D-4B9F-96B0-E1E014EF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2670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6D7E5"/>
                </a:solidFill>
              </a:defRPr>
            </a:pPr>
            <a:r>
              <a:rPr sz="2100" b="1" i="0">
                <a:solidFill>
                  <a:srgbClr val="26D7E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C06A9-3E52-46DF-9B30-6A7E29D0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26193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63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0E5E0-0E17-44E9-81B0-AFDD15D7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71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4FF4F-86EE-4157-8A5D-07B18605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608"/>
                </a:solidFill>
              </a:defRPr>
            </a:pPr>
            <a:r>
              <a:rPr sz="1125" b="1" i="0">
                <a:solidFill>
                  <a:srgbClr val="050608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85E50-072F-4BF3-8FEC-45683BFD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003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5F87"/>
                </a:solidFill>
              </a:defRPr>
            </a:pPr>
            <a:r>
              <a:rPr sz="900" b="1" i="0">
                <a:solidFill>
                  <a:srgbClr val="FF5F87"/>
                </a:solidFill>
              </a:rPr>
              <a:t>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AB7356-BFAB-4ED5-8DE2-A90FDEB1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432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5F7"/>
                </a:solidFill>
              </a:defRPr>
            </a:pPr>
            <a:r>
              <a:rPr sz="1725" b="1" i="0">
                <a:solidFill>
                  <a:srgbClr val="F5F5F7"/>
                </a:solidFill>
              </a:rPr>
              <a:t>Grid screening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CB0F9-6761-4F10-995C-16F69286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19500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5F7"/>
                </a:solidFill>
              </a:defRPr>
            </a:pPr>
            <a:r>
              <a:rPr sz="1200" b="0" i="0">
                <a:solidFill>
                  <a:srgbClr val="F5F5F7"/>
                </a:solidFill>
              </a:rPr>
              <a:t>Candidate nodes, scenarios, constraints and evidence quality.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963597-3FCD-4E5D-9DBC-E020C6E6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670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6D7E5"/>
                </a:solidFill>
              </a:defRPr>
            </a:pPr>
            <a:r>
              <a:rPr sz="2100" b="1" i="0">
                <a:solidFill>
                  <a:srgbClr val="26D7E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2702F-FFEF-4743-B821-6E315494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6193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B5E1F-2BCB-46B9-B6C5-6E4FB88E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71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E72290-FB6D-4590-BE68-E9C0078B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608"/>
                </a:solidFill>
              </a:defRPr>
            </a:pPr>
            <a:r>
              <a:rPr sz="1125" b="1" i="0">
                <a:solidFill>
                  <a:srgbClr val="050608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46F593-AEE7-41DD-B874-949F3630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003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5F87"/>
                </a:solidFill>
              </a:defRPr>
            </a:pPr>
            <a:r>
              <a:rPr sz="900" b="1" i="0">
                <a:solidFill>
                  <a:srgbClr val="FF5F87"/>
                </a:solidFill>
              </a:rPr>
              <a:t>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9E6514-6517-4941-B5FC-AF3C5326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5F7"/>
                </a:solidFill>
              </a:defRPr>
            </a:pPr>
            <a:r>
              <a:rPr sz="1725" b="1" i="0">
                <a:solidFill>
                  <a:srgbClr val="F5F5F7"/>
                </a:solidFill>
              </a:rPr>
              <a:t>Decision package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E1FB78-C120-477A-9187-5D477B70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5F7"/>
                </a:solidFill>
              </a:defRPr>
            </a:pPr>
            <a:r>
              <a:rPr sz="1200" b="0" i="0">
                <a:solidFill>
                  <a:srgbClr val="F5F5F7"/>
                </a:solidFill>
              </a:rPr>
              <a:t>Ranked options and a structured operator-enquiry package.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B75E95-C61B-493F-AD19-CD04AC19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9B9DA4"/>
                </a:solidFill>
              </a:defRPr>
            </a:pPr>
            <a:r>
              <a:rPr sz="1500" b="0" i="1">
                <a:solidFill>
                  <a:srgbClr val="9B9DA4"/>
                </a:solidFill>
              </a:rPr>
              <a:t>A repeatable screening workflow—before formal DSO/TSO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979605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55452C-28D0-4A89-9B49-5A925CE5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04   /   WHAT THE CUSTOMER RECEIVES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ED6CD-4F9A-44EA-995E-4A6E6F6E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GRIDPULSE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31869-735F-4F6C-8A11-43801F9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5F7"/>
                </a:solidFill>
              </a:defRPr>
            </a:pPr>
            <a:r>
              <a:rPr sz="2850" b="1" i="0">
                <a:solidFill>
                  <a:srgbClr val="F5F5F7"/>
                </a:solidFill>
              </a:rPr>
              <a:t>One answer is not enough.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EA0ED-36CF-4195-9CE4-8FB5C147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5F87"/>
                </a:solidFill>
              </a:defRPr>
            </a:pPr>
            <a:r>
              <a:rPr sz="2850" b="1" i="0">
                <a:solidFill>
                  <a:srgbClr val="FF5F87"/>
                </a:solidFill>
              </a:rPr>
              <a:t>We expose the range—and why it moves.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64929-CE8D-4A5B-ADC6-C34719F8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4524375" cy="3095625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063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774D0-6569-45CC-983F-FB596CA4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6D7E5"/>
                </a:solidFill>
              </a:defRPr>
            </a:pPr>
            <a:r>
              <a:rPr sz="900" b="1" i="0">
                <a:solidFill>
                  <a:srgbClr val="26D7E5"/>
                </a:solidFill>
              </a:rPr>
              <a:t>CAPACITY ENVELOPE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963C4-7564-4545-9582-09122498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5F5F7"/>
                </a:solidFill>
              </a:defRPr>
            </a:pPr>
            <a:r>
              <a:rPr sz="1950" b="1" i="0">
                <a:solidFill>
                  <a:srgbClr val="F5F5F7"/>
                </a:solidFill>
              </a:rPr>
              <a:t>Plausible MW range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D822E-4F91-4E3C-9500-244527DB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5F5F7"/>
                </a:solidFill>
              </a:defRPr>
            </a:pPr>
            <a:r>
              <a:rPr sz="1050" b="0" i="0">
                <a:solidFill>
                  <a:srgbClr val="F5F5F7"/>
                </a:solidFill>
              </a:rPr>
              <a:t>Conservative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125C7-E9FE-41B1-B690-218F1370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09975"/>
            <a:ext cx="2333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14F16-54D1-49C3-B13D-553F6663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09975"/>
            <a:ext cx="98012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E1B0F-92CE-47BB-AB93-BC3E2574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243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5F5F7"/>
                </a:solidFill>
              </a:defRPr>
            </a:pPr>
            <a:r>
              <a:rPr sz="1050" b="0" i="0">
                <a:solidFill>
                  <a:srgbClr val="F5F5F7"/>
                </a:solidFill>
              </a:rPr>
              <a:t>Base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BCF8B-75CA-4811-9EF8-638B05E9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62425"/>
            <a:ext cx="2333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55BE0-367F-4310-8F4E-5EB07324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62425"/>
            <a:ext cx="158686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FAC9C-4E35-421D-9705-4EE20181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5F5F7"/>
                </a:solidFill>
              </a:defRPr>
            </a:pPr>
            <a:r>
              <a:rPr sz="1050" b="0" i="0">
                <a:solidFill>
                  <a:srgbClr val="F5F5F7"/>
                </a:solidFill>
              </a:rPr>
              <a:t>With flexibility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4146E-B062-4A98-A913-687B91AF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14875"/>
            <a:ext cx="2333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8F58F-EF81-4633-B5BF-4CB2D292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14875"/>
            <a:ext cx="200691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65C6C-0B05-4A67-8565-A8CDF4D5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38375"/>
            <a:ext cx="6143625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C2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3F2A2-8DB3-4DB9-94E0-2950E0AD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526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5F87"/>
                </a:solidFill>
              </a:defRPr>
            </a:pPr>
            <a:r>
              <a:rPr sz="1275" b="1" i="0">
                <a:solidFill>
                  <a:srgbClr val="FF5F87"/>
                </a:solidFill>
              </a:rPr>
              <a:t>Confidence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3297F-898A-4E01-A2F8-9B13A546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526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5F5F7"/>
                </a:solidFill>
              </a:defRPr>
            </a:pPr>
            <a:r>
              <a:rPr sz="1275" b="0" i="0">
                <a:solidFill>
                  <a:srgbClr val="F5F5F7"/>
                </a:solidFill>
              </a:rPr>
              <a:t>How reliable the estimate 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0330C-82FB-41A4-9D4F-FD0F74B6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19425"/>
            <a:ext cx="6143625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101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1971F-B0B7-4672-B606-54C2C47E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337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5F87"/>
                </a:solidFill>
              </a:defRPr>
            </a:pPr>
            <a:r>
              <a:rPr sz="1275" b="1" i="0">
                <a:solidFill>
                  <a:srgbClr val="FF5F87"/>
                </a:solidFill>
              </a:rPr>
              <a:t>Constraint 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52230-8D9F-4380-9093-5FC25BE3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337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5F5F7"/>
                </a:solidFill>
              </a:defRPr>
            </a:pPr>
            <a:r>
              <a:rPr sz="1275" b="0" i="0">
                <a:solidFill>
                  <a:srgbClr val="F5F5F7"/>
                </a:solidFill>
              </a:rPr>
              <a:t>What limits the connection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5ED62-98E0-4DC1-9BBC-37C66E1A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00475"/>
            <a:ext cx="6143625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C2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116851-8869-4985-B97D-96C12547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147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5F87"/>
                </a:solidFill>
              </a:defRPr>
            </a:pPr>
            <a:r>
              <a:rPr sz="1275" b="1" i="0">
                <a:solidFill>
                  <a:srgbClr val="FF5F87"/>
                </a:solidFill>
              </a:rPr>
              <a:t>Evidence class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E6F617-78C7-42A8-BFAB-BC85B9A1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5F5F7"/>
                </a:solidFill>
              </a:defRPr>
            </a:pPr>
            <a:r>
              <a:rPr sz="1275" b="0" i="0">
                <a:solidFill>
                  <a:srgbClr val="F5F5F7"/>
                </a:solidFill>
              </a:rPr>
              <a:t>Public, inferred, simulated or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1598C-2087-4E35-9A41-948679E7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81525"/>
            <a:ext cx="6143625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101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8DEE3-1F5A-4E65-9975-CB9CE5F7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958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5F87"/>
                </a:solidFill>
              </a:defRPr>
            </a:pPr>
            <a:r>
              <a:rPr sz="1275" b="1" i="0">
                <a:solidFill>
                  <a:srgbClr val="FF5F87"/>
                </a:solidFill>
              </a:rPr>
              <a:t>Next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E6BC4-30A6-45DB-95D1-FCDD1A6C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958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5F5F7"/>
                </a:solidFill>
              </a:defRPr>
            </a:pPr>
            <a:r>
              <a:rPr sz="1275" b="0" i="0">
                <a:solidFill>
                  <a:srgbClr val="F5F5F7"/>
                </a:solidFill>
              </a:rPr>
              <a:t>What to ask the operator</a:t>
            </a:r>
          </a:p>
        </p:txBody>
      </p:sp>
    </p:spTree>
    <p:extLst>
      <p:ext uri="{BB962C8B-B14F-4D97-AF65-F5344CB8AC3E}">
        <p14:creationId xmlns:p14="http://schemas.microsoft.com/office/powerpoint/2010/main" val="851008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57BF7-055C-4787-AE0E-676E6154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05   /   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BAE58-DBF0-4C9C-996C-A3F5383C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GRIDPULSE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DFB62-66E4-4AAE-A07E-8EBD6565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5F7"/>
                </a:solidFill>
              </a:defRPr>
            </a:pPr>
            <a:r>
              <a:rPr sz="2850" b="1" i="0">
                <a:solidFill>
                  <a:srgbClr val="F5F5F7"/>
                </a:solidFill>
              </a:rPr>
              <a:t>Physics first.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A6AEE-4BC0-4E5D-96FF-E2BE3609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5F87"/>
                </a:solidFill>
              </a:defRPr>
            </a:pPr>
            <a:r>
              <a:rPr sz="2850" b="1" i="0">
                <a:solidFill>
                  <a:srgbClr val="FF5F87"/>
                </a:solidFill>
              </a:rPr>
              <a:t>AI where it adds leverage.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5B0D6-8954-4A48-B920-7E1EA3AE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428875" cy="26193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1317"/>
          </a:solidFill>
          <a:ln xmlns:a="http://schemas.openxmlformats.org/drawingml/2006/main" w="9525">
            <a:solidFill>
              <a:srgbClr val="47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E20C5-148E-4006-B48D-B07D5B2D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77FF"/>
                </a:solidFill>
              </a:defRPr>
            </a:pPr>
            <a:r>
              <a:rPr sz="900" b="1" i="0">
                <a:solidFill>
                  <a:srgbClr val="4777FF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93B02-09F2-47B7-A606-2F486B2C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5F7"/>
                </a:solidFill>
              </a:defRPr>
            </a:pPr>
            <a:r>
              <a:rPr sz="1650" b="1" i="0">
                <a:solidFill>
                  <a:srgbClr val="F5F5F7"/>
                </a:solidFill>
              </a:rPr>
              <a:t>Public + licensed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00675-F7D5-42A9-8567-93805456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B9DA4"/>
                </a:solidFill>
              </a:defRPr>
            </a:pPr>
            <a:r>
              <a:rPr sz="1125" b="0" i="0">
                <a:solidFill>
                  <a:srgbClr val="9B9DA4"/>
                </a:solidFill>
              </a:rPr>
              <a:t>Territory, assets, demand, generation, outages, projects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8DFDC-E20B-4AC0-85D4-C1FFECA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6D7E5"/>
                </a:solidFill>
              </a:defRPr>
            </a:pPr>
            <a:r>
              <a:rPr sz="1950" b="1" i="0">
                <a:solidFill>
                  <a:srgbClr val="26D7E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A4F55-792F-4ABD-A712-F5C8A3DF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2428875" cy="26193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1317"/>
          </a:solidFill>
          <a:ln xmlns:a="http://schemas.openxmlformats.org/drawingml/2006/main" w="9525">
            <a:solidFill>
              <a:srgbClr val="5CE0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D2CD1-2C65-4190-A78E-F83DF7ED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CE0C1"/>
                </a:solidFill>
              </a:defRPr>
            </a:pPr>
            <a:r>
              <a:rPr sz="900" b="1" i="0">
                <a:solidFill>
                  <a:srgbClr val="5CE0C1"/>
                </a:solidFill>
              </a:rPr>
              <a:t>ELECTRICAL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3A817-E26E-4AC0-9347-A7F212F4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5F7"/>
                </a:solidFill>
              </a:defRPr>
            </a:pPr>
            <a:r>
              <a:rPr sz="1650" b="1" i="0">
                <a:solidFill>
                  <a:srgbClr val="F5F5F7"/>
                </a:solidFill>
              </a:rPr>
              <a:t>Network scenarios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BFFAC-76A0-404B-8A15-6396C83B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62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B9DA4"/>
                </a:solidFill>
              </a:defRPr>
            </a:pPr>
            <a:r>
              <a:rPr sz="1125" b="0" i="0">
                <a:solidFill>
                  <a:srgbClr val="9B9DA4"/>
                </a:solidFill>
              </a:rPr>
              <a:t>AC power flow, N-0/N-1 stress, voltage and thermal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F2F14-25E8-42E9-ACDC-7F3E4B59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337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6D7E5"/>
                </a:solidFill>
              </a:defRPr>
            </a:pPr>
            <a:r>
              <a:rPr sz="1950" b="1" i="0">
                <a:solidFill>
                  <a:srgbClr val="26D7E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3D05E-8440-4BB8-A323-D58B18DF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428875" cy="26193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1317"/>
          </a:solidFill>
          <a:ln xmlns:a="http://schemas.openxmlformats.org/drawingml/2006/main" w="9525">
            <a:solidFill>
              <a:srgbClr val="8A4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68C43-B2E0-4A43-A406-CA166926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4FFF"/>
                </a:solidFill>
              </a:defRPr>
            </a:pPr>
            <a:r>
              <a:rPr sz="900" b="1" i="0">
                <a:solidFill>
                  <a:srgbClr val="8A4FFF"/>
                </a:solidFill>
              </a:rPr>
              <a:t>UNCERTAINTY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6B9B9-2AFE-40AB-B0B4-A1B45747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5F7"/>
                </a:solidFill>
              </a:defRPr>
            </a:pPr>
            <a:r>
              <a:rPr sz="1650" b="1" i="0">
                <a:solidFill>
                  <a:srgbClr val="F5F5F7"/>
                </a:solidFill>
              </a:rPr>
              <a:t>Chronology + probability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9BA00-2EC3-4DDB-96CF-97425EEB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62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B9DA4"/>
                </a:solidFill>
              </a:defRPr>
            </a:pPr>
            <a:r>
              <a:rPr sz="1125" b="0" i="0">
                <a:solidFill>
                  <a:srgbClr val="9B9DA4"/>
                </a:solidFill>
              </a:rPr>
              <a:t>Missing-state reconstruction, forecast ranges and sensitivity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5CEA5-3997-40B2-851D-6D5DFFD7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6D7E5"/>
                </a:solidFill>
              </a:defRPr>
            </a:pPr>
            <a:r>
              <a:rPr sz="1950" b="1" i="0">
                <a:solidFill>
                  <a:srgbClr val="26D7E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17ED0-2571-448E-BE75-A9134171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428875" cy="26193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1317"/>
          </a:solidFill>
          <a:ln xmlns:a="http://schemas.openxmlformats.org/drawingml/2006/main" w="9525">
            <a:solidFill>
              <a:srgbClr val="FF5F8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2EBD5-9030-473E-A248-1FF1D5CA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5F87"/>
                </a:solidFill>
              </a:defRPr>
            </a:pPr>
            <a:r>
              <a:rPr sz="900" b="1" i="0">
                <a:solidFill>
                  <a:srgbClr val="FF5F87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7E9006-A102-4A67-AA72-D6C0411B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5F7"/>
                </a:solidFill>
              </a:defRPr>
            </a:pPr>
            <a:r>
              <a:rPr sz="1650" b="1" i="0">
                <a:solidFill>
                  <a:srgbClr val="F5F5F7"/>
                </a:solidFill>
              </a:rPr>
              <a:t>Ranking + explanation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9866B-EA92-4120-9F18-211F88C9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62375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B9DA4"/>
                </a:solidFill>
              </a:defRPr>
            </a:pPr>
            <a:r>
              <a:rPr sz="1125" b="0" i="0">
                <a:solidFill>
                  <a:srgbClr val="9B9DA4"/>
                </a:solidFill>
              </a:rPr>
              <a:t>Candidate comparison, flexibility value and next-best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5345F-95D2-42D3-92D3-E134B50D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0858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64001D"/>
          </a:solidFill>
          <a:ln xmlns:a="http://schemas.openxmlformats.org/drawingml/2006/main" w="9525">
            <a:solidFill>
              <a:srgbClr val="FF5F8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22175-58A3-48EB-A52D-8DA8D259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959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B4C5"/>
                </a:solidFill>
              </a:defRPr>
            </a:pPr>
            <a:r>
              <a:rPr sz="900" b="1" i="0">
                <a:solidFill>
                  <a:srgbClr val="FFB4C5"/>
                </a:solidFill>
              </a:rPr>
              <a:t>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6C2E99-6CAA-4131-AAC5-60069595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48300"/>
            <a:ext cx="900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F5F7"/>
                </a:solidFill>
              </a:defRPr>
            </a:pPr>
            <a:r>
              <a:rPr sz="1275" b="1" i="0">
                <a:solidFill>
                  <a:srgbClr val="F5F5F7"/>
                </a:solidFill>
              </a:rPr>
              <a:t>AI does not invent available MW. Operator-grade network evidence is required before capacity is treated as confirmed.</a:t>
            </a:r>
          </a:p>
        </p:txBody>
      </p:sp>
    </p:spTree>
    <p:extLst>
      <p:ext uri="{BB962C8B-B14F-4D97-AF65-F5344CB8AC3E}">
        <p14:creationId xmlns:p14="http://schemas.microsoft.com/office/powerpoint/2010/main" val="1433045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B64A4-D4F1-453D-B97D-1E31FF7A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06   /   EARLY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43BB7-C4E3-4279-8A84-4F53E1A7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GRIDPULSE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A8322-F7A9-4586-A016-CFF33688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5F7"/>
                </a:solidFill>
              </a:defRPr>
            </a:pPr>
            <a:r>
              <a:rPr sz="2850" b="1" i="0">
                <a:solidFill>
                  <a:srgbClr val="F5F5F7"/>
                </a:solidFill>
              </a:rPr>
              <a:t>The pain is real.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9C069-E3A0-4B3B-83AB-6B345D85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5F87"/>
                </a:solidFill>
              </a:defRPr>
            </a:pPr>
            <a:r>
              <a:rPr sz="2850" b="1" i="0">
                <a:solidFill>
                  <a:srgbClr val="FF5F87"/>
                </a:solidFill>
              </a:rPr>
              <a:t>The buying signal is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EEFBA-9E6D-4A79-9315-CE40F95D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F3463-5052-4158-9BB0-D0295BB6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2800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5F5F7"/>
                </a:solidFill>
              </a:defRPr>
            </a:pPr>
            <a:r>
              <a:rPr sz="3300" b="1" i="0">
                <a:solidFill>
                  <a:srgbClr val="F5F5F7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CD205-A0D0-4E06-8186-2521E5C0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5F7"/>
                </a:solidFill>
              </a:defRPr>
            </a:pPr>
            <a:r>
              <a:rPr sz="1200" b="0" i="0">
                <a:solidFill>
                  <a:srgbClr val="F5F5F7"/>
                </a:solidFill>
              </a:rPr>
              <a:t>developer conversations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B071E-A06F-48F6-B997-B15CC337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63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6FBBD-3C21-49A6-8034-4FD5793F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800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5F7"/>
                </a:solidFill>
              </a:defRPr>
            </a:pPr>
            <a:r>
              <a:rPr sz="2550" b="1" i="0">
                <a:solidFill>
                  <a:srgbClr val="F5F5F7"/>
                </a:solidFill>
              </a:rPr>
              <a:t>€100–500M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687B5-DD82-420B-8FB9-563D1E92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81375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5F7"/>
                </a:solidFill>
              </a:defRPr>
            </a:pPr>
            <a:r>
              <a:rPr sz="1200" b="0" i="0">
                <a:solidFill>
                  <a:srgbClr val="F5F5F7"/>
                </a:solidFill>
              </a:rPr>
              <a:t>project-size range discussed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D4516-0E17-4DBD-82DC-481270DE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193C3-3070-4067-A42D-320183FF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2800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5F7"/>
                </a:solidFill>
              </a:defRPr>
            </a:pPr>
            <a:r>
              <a:rPr sz="2550" b="1" i="0">
                <a:solidFill>
                  <a:srgbClr val="F5F5F7"/>
                </a:solidFill>
              </a:rPr>
              <a:t>€2,000 / month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1A88C-D040-4BC6-AABD-3BA05ED7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81375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5F7"/>
                </a:solidFill>
              </a:defRPr>
            </a:pPr>
            <a:r>
              <a:rPr sz="1200" b="0" i="0">
                <a:solidFill>
                  <a:srgbClr val="F5F5F7"/>
                </a:solidFill>
              </a:rPr>
              <a:t>price point tested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615BD-C39E-4DBA-AB04-68C0202A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0763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63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75E3E-6504-4FDE-950B-DC1CB00C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5F5F7"/>
                </a:solidFill>
              </a:defRPr>
            </a:pPr>
            <a:r>
              <a:rPr sz="1575" b="1" i="0">
                <a:solidFill>
                  <a:srgbClr val="F5F5F7"/>
                </a:solidFill>
              </a:rPr>
              <a:t>The scarce asset is not another map—it is trusted, decision-grade evidence about where power is plausible.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F31CA-4AF7-41C0-BC5E-364F902A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B9DA4"/>
                </a:solidFill>
              </a:defRPr>
            </a:pPr>
            <a:r>
              <a:rPr sz="825" b="0" i="0">
                <a:solidFill>
                  <a:srgbClr val="9B9DA4"/>
                </a:solidFill>
              </a:rPr>
              <a:t>Customer conversations, August 2026 · Early validation · No revenue yet</a:t>
            </a:r>
          </a:p>
        </p:txBody>
      </p:sp>
    </p:spTree>
    <p:extLst>
      <p:ext uri="{BB962C8B-B14F-4D97-AF65-F5344CB8AC3E}">
        <p14:creationId xmlns:p14="http://schemas.microsoft.com/office/powerpoint/2010/main" val="7759881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93DDD-384E-476C-B06F-9253453A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07   /   FOUNDING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A1E58-94CA-4974-8B8B-F379ADA9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GRIDPULSE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A68A8-D322-4368-8DA5-83C15E51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5F7"/>
                </a:solidFill>
              </a:defRPr>
            </a:pPr>
            <a:r>
              <a:rPr sz="2850" b="1" i="0">
                <a:solidFill>
                  <a:srgbClr val="F5F5F7"/>
                </a:solidFill>
              </a:rPr>
              <a:t>Built at the intersection 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A1A83-58FF-4A59-A9A5-08974568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5F87"/>
                </a:solidFill>
              </a:defRPr>
            </a:pPr>
            <a:r>
              <a:rPr sz="2850" b="1" i="0">
                <a:solidFill>
                  <a:srgbClr val="FF5F87"/>
                </a:solidFill>
              </a:rPr>
              <a:t>grid engineering and commercial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D88D2-A043-4355-B6E4-1F5C5B8A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191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124B4-8114-450C-9460-CBD847FB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5F87"/>
                </a:solidFill>
              </a:defRPr>
            </a:pPr>
            <a:r>
              <a:rPr sz="825" b="1" i="0">
                <a:solidFill>
                  <a:srgbClr val="FF5F87"/>
                </a:solidFill>
              </a:rPr>
              <a:t>BUSINESS — CUSTOMERS, REVENUE, SALES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E3181-A922-4C36-8EBF-064C6BCB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5F7"/>
                </a:solidFill>
              </a:defRPr>
            </a:pPr>
            <a:r>
              <a:rPr sz="2025" b="1" i="0">
                <a:solidFill>
                  <a:srgbClr val="F5F5F7"/>
                </a:solidFill>
              </a:rPr>
              <a:t>Kshitij “Krish” Jindal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ADE2A-B34A-48D3-BEF0-6ACADB0E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FE7EA"/>
                </a:solidFill>
              </a:defRPr>
            </a:pPr>
            <a:r>
              <a:rPr sz="1050" b="0" i="0">
                <a:solidFill>
                  <a:srgbClr val="BFE7EA"/>
                </a:solidFill>
              </a:rPr>
              <a:t>Co-founder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226F9-89BB-481F-86F9-C052F46A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4333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5F5F7"/>
                </a:solidFill>
              </a:defRPr>
            </a:pPr>
            <a:r>
              <a:rPr sz="1275" b="0" i="0">
                <a:solidFill>
                  <a:srgbClr val="F5F5F7"/>
                </a:solidFill>
              </a:rPr>
              <a:t>Four businesses built over twelve years</a:t>
            </a:r>
          </a:p>
          <a:p xmlns:a="http://schemas.openxmlformats.org/drawingml/2006/main">
            <a:pPr algn="l">
              <a:defRPr sz="1275" b="0" i="0">
                <a:solidFill>
                  <a:srgbClr val="F5F5F7"/>
                </a:solidFill>
              </a:defRPr>
            </a:pPr>
            <a:r>
              <a:rPr sz="1275" b="0" i="0">
                <a:solidFill>
                  <a:srgbClr val="F5F5F7"/>
                </a:solidFill>
              </a:rPr>
              <a:t>One in energy efficiency in India</a:t>
            </a:r>
          </a:p>
          <a:p xmlns:a="http://schemas.openxmlformats.org/drawingml/2006/main">
            <a:pPr algn="l">
              <a:defRPr sz="1275" b="0" i="0">
                <a:solidFill>
                  <a:srgbClr val="F5F5F7"/>
                </a:solidFill>
              </a:defRPr>
            </a:pPr>
            <a:r>
              <a:rPr sz="1275" b="0" i="0">
                <a:solidFill>
                  <a:srgbClr val="F5F5F7"/>
                </a:solidFill>
              </a:rPr>
              <a:t>MSc Entrepreneurship, TH OWL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8A8D8-7832-4697-BD72-BAC0BB88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33625"/>
            <a:ext cx="5191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B3F64-F4A5-48A5-B6F8-F9969CD8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5F87"/>
                </a:solidFill>
              </a:defRPr>
            </a:pPr>
            <a:r>
              <a:rPr sz="825" b="1" i="0">
                <a:solidFill>
                  <a:srgbClr val="FF5F87"/>
                </a:solidFill>
              </a:rPr>
              <a:t>PRODUCT — DATA AND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33578-04D6-44E5-8517-526A02E4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5F7"/>
                </a:solidFill>
              </a:defRPr>
            </a:pPr>
            <a:r>
              <a:rPr sz="2025" b="1" i="0">
                <a:solidFill>
                  <a:srgbClr val="F5F5F7"/>
                </a:solidFill>
              </a:rPr>
              <a:t>Sina Khedmati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45BF8-F813-442F-879D-1E60BD27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FE7EA"/>
                </a:solidFill>
              </a:defRPr>
            </a:pPr>
            <a:r>
              <a:rPr sz="1050" b="0" i="0">
                <a:solidFill>
                  <a:srgbClr val="BFE7EA"/>
                </a:solidFill>
              </a:rPr>
              <a:t>Co-founder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50ADC-B17C-415C-8EDD-FC099E6B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4333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5F5F7"/>
                </a:solidFill>
              </a:defRPr>
            </a:pPr>
            <a:r>
              <a:rPr sz="1275" b="0" i="0">
                <a:solidFill>
                  <a:srgbClr val="F5F5F7"/>
                </a:solidFill>
              </a:rPr>
              <a:t>MSc Power Engineering, TU Munich</a:t>
            </a:r>
          </a:p>
          <a:p xmlns:a="http://schemas.openxmlformats.org/drawingml/2006/main">
            <a:pPr algn="l">
              <a:defRPr sz="1275" b="0" i="0">
                <a:solidFill>
                  <a:srgbClr val="F5F5F7"/>
                </a:solidFill>
              </a:defRPr>
            </a:pPr>
            <a:r>
              <a:rPr sz="1275" b="0" i="0">
                <a:solidFill>
                  <a:srgbClr val="F5F5F7"/>
                </a:solidFill>
              </a:rPr>
              <a:t>MSc Management, TUM</a:t>
            </a:r>
          </a:p>
          <a:p xmlns:a="http://schemas.openxmlformats.org/drawingml/2006/main">
            <a:pPr algn="l">
              <a:defRPr sz="1275" b="0" i="0">
                <a:solidFill>
                  <a:srgbClr val="F5F5F7"/>
                </a:solidFill>
              </a:defRPr>
            </a:pPr>
            <a:r>
              <a:rPr sz="1275" b="0" i="0">
                <a:solidFill>
                  <a:srgbClr val="F5F5F7"/>
                </a:solidFill>
              </a:rPr>
              <a:t>~7 years in European power markets</a:t>
            </a:r>
          </a:p>
        </p:txBody>
      </p:sp>
    </p:spTree>
    <p:extLst>
      <p:ext uri="{BB962C8B-B14F-4D97-AF65-F5344CB8AC3E}">
        <p14:creationId xmlns:p14="http://schemas.microsoft.com/office/powerpoint/2010/main" val="1456716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E6D02-CCCF-4537-8872-8E9B1D56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08   /   WHAT WE ARE LOOKING FOR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997EC-FE02-454D-BD1F-B8A5041B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GRIDPULSE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2C5AA-F6EA-4CEB-B253-4475D17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5F7"/>
                </a:solidFill>
              </a:defRPr>
            </a:pPr>
            <a:r>
              <a:rPr sz="2850" b="1" i="0">
                <a:solidFill>
                  <a:srgbClr val="F5F5F7"/>
                </a:solidFill>
              </a:rPr>
              <a:t>Turn promising sites into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9AE76-B7E6-43B2-9350-67C728F8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5F87"/>
                </a:solidFill>
              </a:defRPr>
            </a:pPr>
            <a:r>
              <a:rPr sz="2850" b="1" i="0">
                <a:solidFill>
                  <a:srgbClr val="FF5F87"/>
                </a:solidFill>
              </a:rPr>
              <a:t>defensible grid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559DD-EB26-42F3-94F9-50CA9F3B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333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E65F0-78AA-450A-B166-A39B970E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5F87"/>
                </a:solidFill>
              </a:defRPr>
            </a:pPr>
            <a:r>
              <a:rPr sz="900" b="1" i="0">
                <a:solidFill>
                  <a:srgbClr val="FF5F87"/>
                </a:solidFill>
              </a:rPr>
              <a:t>PILOT CUSTOMERS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31A60-862B-483F-AF81-4BC6AFF4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5F7"/>
                </a:solidFill>
              </a:defRPr>
            </a:pPr>
            <a:r>
              <a:rPr sz="1425" b="1" i="0">
                <a:solidFill>
                  <a:srgbClr val="F5F5F7"/>
                </a:solidFill>
              </a:rPr>
              <a:t>Data-centre developers and site-selection teams with live candidate portfolios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FCB96-4A42-4AAD-B06C-E682C76B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3333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063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EAE33-0765-433F-986B-DE5A74DA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19375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5F87"/>
                </a:solidFill>
              </a:defRPr>
            </a:pPr>
            <a:r>
              <a:rPr sz="900" b="1" i="0">
                <a:solidFill>
                  <a:srgbClr val="FF5F87"/>
                </a:solidFill>
              </a:rPr>
              <a:t>GRID + DATA PARTNERS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038E0-43A7-452F-B587-A711B58C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95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5F7"/>
                </a:solidFill>
              </a:defRPr>
            </a:pPr>
            <a:r>
              <a:rPr sz="1425" b="1" i="0">
                <a:solidFill>
                  <a:srgbClr val="F5F5F7"/>
                </a:solidFill>
              </a:rPr>
              <a:t>Operators, engineering partners and data providers who can strengthen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1DA54-5EFE-4E4B-911B-BD1F602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333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20F2E-D433-40DF-9199-211574CF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19375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5F87"/>
                </a:solidFill>
              </a:defRPr>
            </a:pPr>
            <a:r>
              <a:rPr sz="900" b="1" i="0">
                <a:solidFill>
                  <a:srgbClr val="FF5F87"/>
                </a:solidFill>
              </a:rPr>
              <a:t>EARLY-STAGE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3B546-BA11-4590-9135-54C67F5D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95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5F7"/>
                </a:solidFill>
              </a:defRPr>
            </a:pPr>
            <a:r>
              <a:rPr sz="1425" b="1" i="0">
                <a:solidFill>
                  <a:srgbClr val="F5F5F7"/>
                </a:solidFill>
              </a:rPr>
              <a:t>Partners who can accelerate product validation, commercial access and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C33CB-067D-4BCE-A017-9FBE89B6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5F7"/>
                </a:solidFill>
              </a:defRPr>
            </a:pPr>
            <a:r>
              <a:rPr sz="1800" b="1" i="0">
                <a:solidFill>
                  <a:srgbClr val="F5F5F7"/>
                </a:solidFill>
              </a:rPr>
              <a:t>Start with a site. Leave with a ranked, evidence-backed path to connection.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5FDAC-19F3-4DFA-BADA-B8EA421C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B9DA4"/>
                </a:solidFill>
              </a:defRPr>
            </a:pPr>
            <a:r>
              <a:rPr sz="825" b="1" i="0">
                <a:solidFill>
                  <a:srgbClr val="9B9DA4"/>
                </a:solidFill>
              </a:rPr>
              <a:t>GRIDPULSE</a:t>
            </a:r>
          </a:p>
        </p:txBody>
      </p:sp>
    </p:spTree>
    <p:extLst>
      <p:ext uri="{BB962C8B-B14F-4D97-AF65-F5344CB8AC3E}">
        <p14:creationId xmlns:p14="http://schemas.microsoft.com/office/powerpoint/2010/main" val="1386143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2026-08-28T10:43:31.3310000Z</dcterms:created>
  <dcterms:modified xsi:type="dcterms:W3CDTF">2026-08-28T10:43:31.3310000Z</dcterms:modified>
</coreProperties>
</file>