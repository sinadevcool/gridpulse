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38e853cd14224" /><Relationship Type="http://schemas.openxmlformats.org/officeDocument/2006/relationships/extended-properties" Target="/docProps/app.xml" Id="R4af8a96fdd324d81" /><Relationship Type="http://schemas.openxmlformats.org/officeDocument/2006/relationships/officeDocument" Target="/ppt/presentation.xml" Id="R3cceb961a6dc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bedc69fe3449c3"/>
  </p:sldMasterIdLst>
  <p:notesMasterIdLst>
    <p:notesMasterId xmlns:r="http://schemas.openxmlformats.org/officeDocument/2006/relationships" r:id="Rec244534f7dd4f7a"/>
  </p:notesMasterIdLst>
  <p:sldIdLst>
    <p:sldId xmlns:r="http://schemas.openxmlformats.org/officeDocument/2006/relationships" id="256" r:id="R314c785b199a4de9"/>
    <p:sldId xmlns:r="http://schemas.openxmlformats.org/officeDocument/2006/relationships" id="257" r:id="Reffd5fb004884620"/>
    <p:sldId xmlns:r="http://schemas.openxmlformats.org/officeDocument/2006/relationships" id="258" r:id="Rc4d79be073194411"/>
    <p:sldId xmlns:r="http://schemas.openxmlformats.org/officeDocument/2006/relationships" id="259" r:id="R36b1f61e7a654321"/>
    <p:sldId xmlns:r="http://schemas.openxmlformats.org/officeDocument/2006/relationships" id="260" r:id="R37caf2f5cf894af5"/>
    <p:sldId xmlns:r="http://schemas.openxmlformats.org/officeDocument/2006/relationships" id="261" r:id="Rceaa34e1425a49e8"/>
    <p:sldId xmlns:r="http://schemas.openxmlformats.org/officeDocument/2006/relationships" id="262" r:id="R7139ece6d5684409"/>
    <p:sldId xmlns:r="http://schemas.openxmlformats.org/officeDocument/2006/relationships" id="263" r:id="R52ac2945fe944e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093bb686d04ac0" /><Relationship Type="http://schemas.openxmlformats.org/officeDocument/2006/relationships/slideMaster" Target="/ppt/slideMasters/slideMaster1.xml" Id="Rcbbedc69fe3449c3" /><Relationship Type="http://schemas.openxmlformats.org/officeDocument/2006/relationships/notesMaster" Target="/ppt/notesMasters/notesMaster1.xml" Id="Rec244534f7dd4f7a" /><Relationship Type="http://schemas.openxmlformats.org/officeDocument/2006/relationships/presProps" Target="/ppt/presProps.xml" Id="Re085291f14344c0f" /><Relationship Type="http://schemas.openxmlformats.org/officeDocument/2006/relationships/tableStyles" Target="/ppt/tableStyles.xml" Id="Rac172d40ec214fb2" /><Relationship Type="http://schemas.openxmlformats.org/officeDocument/2006/relationships/slide" Target="/ppt/slides/slide1.xml" Id="R314c785b199a4de9" /><Relationship Type="http://schemas.openxmlformats.org/officeDocument/2006/relationships/slide" Target="/ppt/slides/slide2.xml" Id="Reffd5fb004884620" /><Relationship Type="http://schemas.openxmlformats.org/officeDocument/2006/relationships/slide" Target="/ppt/slides/slide3.xml" Id="Rc4d79be073194411" /><Relationship Type="http://schemas.openxmlformats.org/officeDocument/2006/relationships/slide" Target="/ppt/slides/slide4.xml" Id="R36b1f61e7a654321" /><Relationship Type="http://schemas.openxmlformats.org/officeDocument/2006/relationships/slide" Target="/ppt/slides/slide5.xml" Id="R37caf2f5cf894af5" /><Relationship Type="http://schemas.openxmlformats.org/officeDocument/2006/relationships/slide" Target="/ppt/slides/slide6.xml" Id="Rceaa34e1425a49e8" /><Relationship Type="http://schemas.openxmlformats.org/officeDocument/2006/relationships/slide" Target="/ppt/slides/slide7.xml" Id="R7139ece6d5684409" /><Relationship Type="http://schemas.openxmlformats.org/officeDocument/2006/relationships/slide" Target="/ppt/slides/slide8.xml" Id="R52ac2945fe94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dd92d77ad41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49383e28447f3" /><Relationship Type="http://schemas.openxmlformats.org/officeDocument/2006/relationships/notesMaster" Target="/ppt/notesMasters/notesMaster1.xml" Id="Rd5656bc5ef8e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a684edc6e492b" /><Relationship Type="http://schemas.openxmlformats.org/officeDocument/2006/relationships/notesMaster" Target="/ppt/notesMasters/notesMaster1.xml" Id="Rf1f79da90dab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c1fa89ebd422c" /><Relationship Type="http://schemas.openxmlformats.org/officeDocument/2006/relationships/notesMaster" Target="/ppt/notesMasters/notesMaster1.xml" Id="R43926feaa04945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def9d6d554a54" /><Relationship Type="http://schemas.openxmlformats.org/officeDocument/2006/relationships/notesMaster" Target="/ppt/notesMasters/notesMaster1.xml" Id="R0d06ad74f95c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44f64943524f56" /><Relationship Type="http://schemas.openxmlformats.org/officeDocument/2006/relationships/notesMaster" Target="/ppt/notesMasters/notesMaster1.xml" Id="Rd2378a3126be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2cea735c043bf" /><Relationship Type="http://schemas.openxmlformats.org/officeDocument/2006/relationships/notesMaster" Target="/ppt/notesMasters/notesMaster1.xml" Id="R483727e39d8e48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03268738d94eb8" /><Relationship Type="http://schemas.openxmlformats.org/officeDocument/2006/relationships/notesMaster" Target="/ppt/notesMasters/notesMaster1.xml" Id="R048dfad66321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081a69593f4e49" /><Relationship Type="http://schemas.openxmlformats.org/officeDocument/2006/relationships/notesMaster" Target="/ppt/notesMasters/notesMaster1.xml" Id="R42d6fb07434247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knowing where a large load is most plausible before entering a long formal connection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prototype and user-provided GridPulse pitch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GridPulse pitch deck; GridPulse product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prototype and backtest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technical design: entity resolution, forecasting, scenario ranking, confidence calibration and abstention.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backtest methodology and evidence-boundary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GridPulse pitch deck: customer conversations and tested price, August 2026. GridPulse repositories: prototype and backtest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methodology audits and validation-boundary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GridPulse product roadmap and AI Entrepreneurs Lab application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ff7f597584d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fe065f3d54011" /><Relationship Type="http://schemas.openxmlformats.org/officeDocument/2006/relationships/slideLayout" Target="/ppt/slideLayouts/slideLayout1.xml" Id="R1ad43b6c71c7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43b6c71c7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2422d95f4818" /><Relationship Type="http://schemas.openxmlformats.org/officeDocument/2006/relationships/notesSlide" Target="/ppt/notesSlides/notesSlide1.xml" Id="R1452fab1915c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cdd53798c44e4" /><Relationship Type="http://schemas.openxmlformats.org/officeDocument/2006/relationships/notesSlide" Target="/ppt/notesSlides/notesSlide2.xml" Id="R79af2d98578e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f80b73b9c46ad" /><Relationship Type="http://schemas.openxmlformats.org/officeDocument/2006/relationships/notesSlide" Target="/ppt/notesSlides/notesSlide3.xml" Id="R4fe836ef963d4a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0eb95349a4095" /><Relationship Type="http://schemas.openxmlformats.org/officeDocument/2006/relationships/notesSlide" Target="/ppt/notesSlides/notesSlide4.xml" Id="R646c3c44b82e45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5dcfe9014b30" /><Relationship Type="http://schemas.openxmlformats.org/officeDocument/2006/relationships/notesSlide" Target="/ppt/notesSlides/notesSlide5.xml" Id="Reda39ddc6b7941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0cd61dc4f4513" /><Relationship Type="http://schemas.openxmlformats.org/officeDocument/2006/relationships/notesSlide" Target="/ppt/notesSlides/notesSlide6.xml" Id="R1e1edd97592a4f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e6e97d09d4ed1" /><Relationship Type="http://schemas.openxmlformats.org/officeDocument/2006/relationships/notesSlide" Target="/ppt/notesSlides/notesSlide7.xml" Id="R3e3590af51034e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541b7c21147f6" /><Relationship Type="http://schemas.openxmlformats.org/officeDocument/2006/relationships/notesSlide" Target="/ppt/notesSlides/notesSlide8.xml" Id="R1d8df80beed3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3FB158F9-109F-4C29-974A-A67D076B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0800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5B83"/>
                </a:solidFill>
              </a:defRPr>
            </a:pPr>
            <a:r>
              <a:rPr sz="3900" b="1">
                <a:solidFill>
                  <a:srgbClr val="FF5B83"/>
                </a:solidFill>
              </a:rPr>
              <a:t>GRIDPULSE  INSIGHTS</a:t>
            </a:r>
          </a:p>
        </p:txBody>
      </p:sp>
      <p:sp>
        <p:nvSpPr>
          <p:cNvPr id="2" name="tagline">
            <a:extLst xmlns:a="http://schemas.openxmlformats.org/drawingml/2006/main">
              <a:ext uri="{FF2B5EF4-FFF2-40B4-BE49-F238E27FC236}">
                <a16:creationId xmlns:a16="http://schemas.microsoft.com/office/drawing/2014/main" id="{29110A4C-E1A3-4D2E-8FA4-EF79098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6A6A8"/>
                </a:solidFill>
              </a:defRPr>
            </a:pPr>
            <a:r>
              <a:rPr sz="1650" b="0">
                <a:solidFill>
                  <a:srgbClr val="A6A6A8"/>
                </a:solidFill>
              </a:rPr>
              <a:t>AI and physics for data-centre grid decisions</a:t>
            </a:r>
          </a:p>
        </p:txBody>
      </p:sp>
    </p:spTree>
    <p:extLst>
      <p:ext uri="{BB962C8B-B14F-4D97-AF65-F5344CB8AC3E}">
        <p14:creationId xmlns:p14="http://schemas.microsoft.com/office/powerpoint/2010/main" val="1695050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6EB739FE-F0F0-4129-9405-C3D6851E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02   /   THE PROBLEM AND CUSTOMER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EDB40A8-A135-488A-9C89-5CD35851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A data-centre site can fail because the grid answer arrives too late.</a:t>
            </a:r>
          </a:p>
        </p:txBody>
      </p:sp>
      <p:sp>
        <p:nvSpPr>
          <p:cNvPr id="3" name="customer">
            <a:extLst xmlns:a="http://schemas.openxmlformats.org/drawingml/2006/main">
              <a:ext uri="{FF2B5EF4-FFF2-40B4-BE49-F238E27FC236}">
                <a16:creationId xmlns:a16="http://schemas.microsoft.com/office/drawing/2014/main" id="{AD92C9D9-A3D3-4C05-8E9E-5827487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B83"/>
                </a:solidFill>
              </a:defRPr>
            </a:pPr>
            <a:r>
              <a:rPr sz="975" b="1">
                <a:solidFill>
                  <a:srgbClr val="FF5B83"/>
                </a:solidFill>
              </a:rPr>
              <a:t>FOR WHOM</a:t>
            </a:r>
          </a:p>
        </p:txBody>
      </p:sp>
      <p:sp>
        <p:nvSpPr>
          <p:cNvPr id="4" name="customer-value">
            <a:extLst xmlns:a="http://schemas.openxmlformats.org/drawingml/2006/main">
              <a:ext uri="{FF2B5EF4-FFF2-40B4-BE49-F238E27FC236}">
                <a16:creationId xmlns:a16="http://schemas.microsoft.com/office/drawing/2014/main" id="{A096B016-9A61-4A82-8B6F-98ED134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7F7"/>
                </a:solidFill>
              </a:defRPr>
            </a:pPr>
            <a:r>
              <a:rPr sz="2250" b="1">
                <a:solidFill>
                  <a:srgbClr val="F7F7F7"/>
                </a:solidFill>
              </a:rPr>
              <a:t>Data-centre developers, investors and infrastructure teams</a:t>
            </a:r>
          </a:p>
        </p:txBody>
      </p:sp>
      <p:sp>
        <p:nvSpPr>
          <p:cNvPr id="5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8AAF72EB-344D-491E-A491-F4799C50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0958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6" name="problem-panel-title">
            <a:extLst xmlns:a="http://schemas.openxmlformats.org/drawingml/2006/main">
              <a:ext uri="{FF2B5EF4-FFF2-40B4-BE49-F238E27FC236}">
                <a16:creationId xmlns:a16="http://schemas.microsoft.com/office/drawing/2014/main" id="{6B460644-1B52-4356-9D9D-4528DA33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7"/>
                </a:solidFill>
              </a:defRPr>
            </a:pPr>
            <a:r>
              <a:rPr sz="1950" b="1">
                <a:solidFill>
                  <a:srgbClr val="F7F7F7"/>
                </a:solidFill>
              </a:rPr>
              <a:t>The decision gap</a:t>
            </a:r>
          </a:p>
        </p:txBody>
      </p:sp>
      <p:sp>
        <p:nvSpPr>
          <p:cNvPr id="7" name="p1-dot">
            <a:extLst xmlns:a="http://schemas.openxmlformats.org/drawingml/2006/main">
              <a:ext uri="{FF2B5EF4-FFF2-40B4-BE49-F238E27FC236}">
                <a16:creationId xmlns:a16="http://schemas.microsoft.com/office/drawing/2014/main" id="{8CD66962-E6C5-47FD-9469-D83C670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B83"/>
                </a:solidFill>
              </a:defRPr>
            </a:pPr>
            <a:r>
              <a:rPr sz="135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8" name="p1">
            <a:extLst xmlns:a="http://schemas.openxmlformats.org/drawingml/2006/main">
              <a:ext uri="{FF2B5EF4-FFF2-40B4-BE49-F238E27FC236}">
                <a16:creationId xmlns:a16="http://schemas.microsoft.com/office/drawing/2014/main" id="{12960B16-41B4-490F-A3B4-EFE46B60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</a:defRPr>
            </a:pPr>
            <a:r>
              <a:rPr sz="1350" b="0">
                <a:solidFill>
                  <a:srgbClr val="F7F7F7"/>
                </a:solidFill>
              </a:rPr>
              <a:t>Sites are selected before grid feasibility is clear.</a:t>
            </a:r>
          </a:p>
        </p:txBody>
      </p:sp>
      <p:sp>
        <p:nvSpPr>
          <p:cNvPr id="9" name="p2-dot">
            <a:extLst xmlns:a="http://schemas.openxmlformats.org/drawingml/2006/main">
              <a:ext uri="{FF2B5EF4-FFF2-40B4-BE49-F238E27FC236}">
                <a16:creationId xmlns:a16="http://schemas.microsoft.com/office/drawing/2014/main" id="{4A05FD78-116E-4C5D-A301-E52899E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B83"/>
                </a:solidFill>
              </a:defRPr>
            </a:pPr>
            <a:r>
              <a:rPr sz="135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10" name="p2">
            <a:extLst xmlns:a="http://schemas.openxmlformats.org/drawingml/2006/main">
              <a:ext uri="{FF2B5EF4-FFF2-40B4-BE49-F238E27FC236}">
                <a16:creationId xmlns:a16="http://schemas.microsoft.com/office/drawing/2014/main" id="{3DD1926A-8431-4F82-A6B9-2EAC92E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38550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</a:defRPr>
            </a:pPr>
            <a:r>
              <a:rPr sz="1350" b="0">
                <a:solidFill>
                  <a:srgbClr val="F7F7F7"/>
                </a:solidFill>
              </a:rPr>
              <a:t>Network evidence is fragmented across operators and datasets.</a:t>
            </a:r>
          </a:p>
        </p:txBody>
      </p:sp>
      <p:sp>
        <p:nvSpPr>
          <p:cNvPr id="11" name="p3-dot">
            <a:extLst xmlns:a="http://schemas.openxmlformats.org/drawingml/2006/main">
              <a:ext uri="{FF2B5EF4-FFF2-40B4-BE49-F238E27FC236}">
                <a16:creationId xmlns:a16="http://schemas.microsoft.com/office/drawing/2014/main" id="{0D5730F0-2CDF-4BCE-A745-EEB1FE5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B83"/>
                </a:solidFill>
              </a:defRPr>
            </a:pPr>
            <a:r>
              <a:rPr sz="135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12" name="p3">
            <a:extLst xmlns:a="http://schemas.openxmlformats.org/drawingml/2006/main">
              <a:ext uri="{FF2B5EF4-FFF2-40B4-BE49-F238E27FC236}">
                <a16:creationId xmlns:a16="http://schemas.microsoft.com/office/drawing/2014/main" id="{40C23B10-8E18-439E-B227-BE53EBD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3857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</a:defRPr>
            </a:pPr>
            <a:r>
              <a:rPr sz="1350" b="0">
                <a:solidFill>
                  <a:srgbClr val="F7F7F7"/>
                </a:solidFill>
              </a:rPr>
              <a:t>A rejected request can restart months of work at a new location.</a:t>
            </a:r>
          </a:p>
        </p:txBody>
      </p:sp>
      <p:sp>
        <p:nvSpPr>
          <p:cNvPr id="13" name="consequence">
            <a:extLst xmlns:a="http://schemas.openxmlformats.org/drawingml/2006/main">
              <a:ext uri="{FF2B5EF4-FFF2-40B4-BE49-F238E27FC236}">
                <a16:creationId xmlns:a16="http://schemas.microsoft.com/office/drawing/2014/main" id="{BEC55927-FA3F-4C63-AC80-0AECE53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5B83"/>
                </a:solidFill>
              </a:defRPr>
            </a:pPr>
            <a:r>
              <a:rPr sz="2325" b="1">
                <a:solidFill>
                  <a:srgbClr val="FF5B83"/>
                </a:solidFill>
              </a:rPr>
              <a:t>Grid risk becomes capital risk.</a:t>
            </a:r>
          </a:p>
        </p:txBody>
      </p:sp>
      <p:sp>
        <p:nvSpPr>
          <p:cNvPr id="14" name="footer-2">
            <a:extLst xmlns:a="http://schemas.openxmlformats.org/drawingml/2006/main">
              <a:ext uri="{FF2B5EF4-FFF2-40B4-BE49-F238E27FC236}">
                <a16:creationId xmlns:a16="http://schemas.microsoft.com/office/drawing/2014/main" id="{A9B39F0C-51FC-450A-85D3-EF8A940F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8034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3">
            <a:extLst xmlns:a="http://schemas.openxmlformats.org/drawingml/2006/main">
              <a:ext uri="{FF2B5EF4-FFF2-40B4-BE49-F238E27FC236}">
                <a16:creationId xmlns:a16="http://schemas.microsoft.com/office/drawing/2014/main" id="{EC42EA60-A298-4BD9-B53A-9279805B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03   /   THE PROPOSED SOLUTION</a:t>
            </a:r>
          </a:p>
        </p:txBody>
      </p:sp>
      <p:sp>
        <p:nvSpPr>
          <p:cNvPr id="2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B591B379-72AB-483A-9F69-C07706E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7F7"/>
                </a:solidFill>
              </a:defRPr>
            </a:pPr>
            <a:r>
              <a:rPr sz="3150" b="1">
                <a:solidFill>
                  <a:srgbClr val="F7F7F7"/>
                </a:solidFill>
              </a:rPr>
              <a:t>Drop a pin. GridPulse ranks the grid around it.</a:t>
            </a:r>
          </a:p>
        </p:txBody>
      </p:sp>
      <p:sp>
        <p:nvSpPr>
          <p:cNvPr id="3" name="solution-card-0">
            <a:extLst xmlns:a="http://schemas.openxmlformats.org/drawingml/2006/main">
              <a:ext uri="{FF2B5EF4-FFF2-40B4-BE49-F238E27FC236}">
                <a16:creationId xmlns:a16="http://schemas.microsoft.com/office/drawing/2014/main" id="{772BB8A1-0433-49F5-90C0-8C1094A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4" name="solution-head-0">
            <a:extLst xmlns:a="http://schemas.openxmlformats.org/drawingml/2006/main">
              <a:ext uri="{FF2B5EF4-FFF2-40B4-BE49-F238E27FC236}">
                <a16:creationId xmlns:a16="http://schemas.microsoft.com/office/drawing/2014/main" id="{5624EC62-E608-42AF-8DF4-4A1F70F7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B83"/>
                </a:solidFill>
              </a:defRPr>
            </a:pPr>
            <a:r>
              <a:rPr sz="1125" b="1">
                <a:solidFill>
                  <a:srgbClr val="FF5B83"/>
                </a:solidFill>
              </a:rPr>
              <a:t>1  SITE + LOAD</a:t>
            </a:r>
          </a:p>
        </p:txBody>
      </p:sp>
      <p:sp>
        <p:nvSpPr>
          <p:cNvPr id="5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79F968C6-331A-4573-A154-EFD0C72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</a:defRPr>
            </a:pPr>
            <a:r>
              <a:rPr sz="1575" b="0">
                <a:solidFill>
                  <a:srgbClr val="F7F7F7"/>
                </a:solidFill>
              </a:rPr>
              <a:t>Location, MW profile, timing, reliability and flexibility.</a:t>
            </a:r>
          </a:p>
        </p:txBody>
      </p:sp>
      <p:sp>
        <p:nvSpPr>
          <p:cNvPr id="6" name="solution-card-1">
            <a:extLst xmlns:a="http://schemas.openxmlformats.org/drawingml/2006/main">
              <a:ext uri="{FF2B5EF4-FFF2-40B4-BE49-F238E27FC236}">
                <a16:creationId xmlns:a16="http://schemas.microsoft.com/office/drawing/2014/main" id="{53339F51-A27D-499E-BD30-6F1D797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7" name="solution-head-1">
            <a:extLst xmlns:a="http://schemas.openxmlformats.org/drawingml/2006/main">
              <a:ext uri="{FF2B5EF4-FFF2-40B4-BE49-F238E27FC236}">
                <a16:creationId xmlns:a16="http://schemas.microsoft.com/office/drawing/2014/main" id="{32DCC4B9-A33C-408E-A496-8731456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B83"/>
                </a:solidFill>
              </a:defRPr>
            </a:pPr>
            <a:r>
              <a:rPr sz="1125" b="1">
                <a:solidFill>
                  <a:srgbClr val="FF5B83"/>
                </a:solidFill>
              </a:rPr>
              <a:t>2  SCREEN + MODEL</a:t>
            </a:r>
          </a:p>
        </p:txBody>
      </p:sp>
      <p:sp>
        <p:nvSpPr>
          <p:cNvPr id="8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72C64EF3-C2CF-421A-A943-BDF1EE38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86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7F7"/>
                </a:solidFill>
              </a:defRPr>
            </a:pPr>
            <a:r>
              <a:rPr sz="1575" b="0">
                <a:solidFill>
                  <a:srgbClr val="F7F7F7"/>
                </a:solidFill>
              </a:rPr>
              <a:t>Public grid evidence, candidate nodes, scenarios and electrical constraints.</a:t>
            </a:r>
          </a:p>
        </p:txBody>
      </p:sp>
      <p:sp>
        <p:nvSpPr>
          <p:cNvPr id="9" name="solution-card-2">
            <a:extLst xmlns:a="http://schemas.openxmlformats.org/drawingml/2006/main">
              <a:ext uri="{FF2B5EF4-FFF2-40B4-BE49-F238E27FC236}">
                <a16:creationId xmlns:a16="http://schemas.microsoft.com/office/drawing/2014/main" id="{9F73A822-4898-4F9D-9A46-1462878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28875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10" name="solution-head-2">
            <a:extLst xmlns:a="http://schemas.openxmlformats.org/drawingml/2006/main">
              <a:ext uri="{FF2B5EF4-FFF2-40B4-BE49-F238E27FC236}">
                <a16:creationId xmlns:a16="http://schemas.microsoft.com/office/drawing/2014/main" id="{5D57772D-5811-47D2-A43E-37658123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B83"/>
                </a:solidFill>
              </a:defRPr>
            </a:pPr>
            <a:r>
              <a:rPr sz="1125" b="1">
                <a:solidFill>
                  <a:srgbClr val="FF5B83"/>
                </a:solidFill>
              </a:rPr>
              <a:t>3  DECISION OUTPUT</a:t>
            </a:r>
          </a:p>
        </p:txBody>
      </p:sp>
      <p:sp>
        <p:nvSpPr>
          <p:cNvPr id="11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7C0C08CB-7F29-400A-BBC3-827DD982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Ranked connection hypotheses, capacity range, confidence and next action.</a:t>
            </a:r>
          </a:p>
        </p:txBody>
      </p:sp>
      <p:sp>
        <p:nvSpPr>
          <p:cNvPr id="12" name="solution-boundary">
            <a:extLst xmlns:a="http://schemas.openxmlformats.org/drawingml/2006/main">
              <a:ext uri="{FF2B5EF4-FFF2-40B4-BE49-F238E27FC236}">
                <a16:creationId xmlns:a16="http://schemas.microsoft.com/office/drawing/2014/main" id="{9701A9C4-A9F0-4551-AE49-4C256F4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6A6A8"/>
                </a:solidFill>
              </a:defRPr>
            </a:pPr>
            <a:r>
              <a:rPr sz="1800" b="0">
                <a:solidFill>
                  <a:srgbClr val="A6A6A8"/>
                </a:solidFill>
              </a:rPr>
              <a:t>The output is an evidence-backed screening estimate - not operator-confirmed capacity.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F1721A3F-C770-4DDE-A5ED-EE48D63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993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CD8F4A7A-6EFD-4D08-90AE-8966B40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04   /   WHY AI IS CENTRAL</a:t>
            </a:r>
          </a:p>
        </p:txBody>
      </p:sp>
      <p:sp>
        <p:nvSpPr>
          <p:cNvPr id="2" name="ai-title">
            <a:extLst xmlns:a="http://schemas.openxmlformats.org/drawingml/2006/main">
              <a:ext uri="{FF2B5EF4-FFF2-40B4-BE49-F238E27FC236}">
                <a16:creationId xmlns:a16="http://schemas.microsoft.com/office/drawing/2014/main" id="{C5C415B6-CEED-4AEC-BFE3-9563C7D2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Incomplete grid data makes this an inference problem, not a database lookup.</a:t>
            </a:r>
          </a:p>
        </p:txBody>
      </p:sp>
      <p:sp>
        <p:nvSpPr>
          <p:cNvPr id="3" name="ai-num-0">
            <a:extLst xmlns:a="http://schemas.openxmlformats.org/drawingml/2006/main">
              <a:ext uri="{FF2B5EF4-FFF2-40B4-BE49-F238E27FC236}">
                <a16:creationId xmlns:a16="http://schemas.microsoft.com/office/drawing/2014/main" id="{8FB283C5-B765-4B13-BBE2-D53D1BE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B83"/>
                </a:solidFill>
              </a:defRPr>
            </a:pPr>
            <a:r>
              <a:rPr sz="2100" b="1">
                <a:solidFill>
                  <a:srgbClr val="FF5B83"/>
                </a:solidFill>
              </a:rPr>
              <a:t>1</a:t>
            </a:r>
          </a:p>
        </p:txBody>
      </p:sp>
      <p:sp>
        <p:nvSpPr>
          <p:cNvPr id="4" name="ai-head-0">
            <a:extLst xmlns:a="http://schemas.openxmlformats.org/drawingml/2006/main">
              <a:ext uri="{FF2B5EF4-FFF2-40B4-BE49-F238E27FC236}">
                <a16:creationId xmlns:a16="http://schemas.microsoft.com/office/drawing/2014/main" id="{1BB906F9-D816-4FB3-AE74-576E4A2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7"/>
                </a:solidFill>
              </a:defRPr>
            </a:pPr>
            <a:r>
              <a:rPr sz="1500" b="1">
                <a:solidFill>
                  <a:srgbClr val="F7F7F7"/>
                </a:solidFill>
              </a:rPr>
              <a:t>RECONSTRUCT</a:t>
            </a:r>
          </a:p>
        </p:txBody>
      </p:sp>
      <p:sp>
        <p:nvSpPr>
          <p:cNvPr id="5" name="ai-body-0">
            <a:extLst xmlns:a="http://schemas.openxmlformats.org/drawingml/2006/main">
              <a:ext uri="{FF2B5EF4-FFF2-40B4-BE49-F238E27FC236}">
                <a16:creationId xmlns:a16="http://schemas.microsoft.com/office/drawing/2014/main" id="{B7BE09FD-9DEB-442C-B226-D14E932C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6A6A8"/>
                </a:solidFill>
              </a:defRPr>
            </a:pPr>
            <a:r>
              <a:rPr sz="1425" b="0">
                <a:solidFill>
                  <a:srgbClr val="A6A6A8"/>
                </a:solidFill>
              </a:rPr>
              <a:t>Resolve inconsistent assets, operators and locations into candidate grid context.</a:t>
            </a:r>
          </a:p>
        </p:txBody>
      </p:sp>
      <p:sp>
        <p:nvSpPr>
          <p:cNvPr id="6" name="ai-num-1">
            <a:extLst xmlns:a="http://schemas.openxmlformats.org/drawingml/2006/main">
              <a:ext uri="{FF2B5EF4-FFF2-40B4-BE49-F238E27FC236}">
                <a16:creationId xmlns:a16="http://schemas.microsoft.com/office/drawing/2014/main" id="{F23A9CA2-C2D5-4D8B-94A3-D596F27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B83"/>
                </a:solidFill>
              </a:defRPr>
            </a:pPr>
            <a:r>
              <a:rPr sz="2100" b="1">
                <a:solidFill>
                  <a:srgbClr val="FF5B83"/>
                </a:solidFill>
              </a:rPr>
              <a:t>2</a:t>
            </a:r>
          </a:p>
        </p:txBody>
      </p:sp>
      <p:sp>
        <p:nvSpPr>
          <p:cNvPr id="7" name="ai-head-1">
            <a:extLst xmlns:a="http://schemas.openxmlformats.org/drawingml/2006/main">
              <a:ext uri="{FF2B5EF4-FFF2-40B4-BE49-F238E27FC236}">
                <a16:creationId xmlns:a16="http://schemas.microsoft.com/office/drawing/2014/main" id="{DB2C8A22-ECBA-409C-A221-41A4E9A2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95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7"/>
                </a:solidFill>
              </a:defRPr>
            </a:pPr>
            <a:r>
              <a:rPr sz="1500" b="1">
                <a:solidFill>
                  <a:srgbClr val="F7F7F7"/>
                </a:solidFill>
              </a:rPr>
              <a:t>PREDICT</a:t>
            </a:r>
          </a:p>
        </p:txBody>
      </p:sp>
      <p:sp>
        <p:nvSpPr>
          <p:cNvPr id="8" name="ai-body-1">
            <a:extLst xmlns:a="http://schemas.openxmlformats.org/drawingml/2006/main">
              <a:ext uri="{FF2B5EF4-FFF2-40B4-BE49-F238E27FC236}">
                <a16:creationId xmlns:a16="http://schemas.microsoft.com/office/drawing/2014/main" id="{FB8AA696-64C8-427C-A9DE-6EC2C7E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7660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6A6A8"/>
                </a:solidFill>
              </a:defRPr>
            </a:pPr>
            <a:r>
              <a:rPr sz="1425" b="0">
                <a:solidFill>
                  <a:srgbClr val="A6A6A8"/>
                </a:solidFill>
              </a:rPr>
              <a:t>Estimate demand, generation and operating conditions across time and scenarios.</a:t>
            </a:r>
          </a:p>
        </p:txBody>
      </p:sp>
      <p:sp>
        <p:nvSpPr>
          <p:cNvPr id="9" name="ai-num-2">
            <a:extLst xmlns:a="http://schemas.openxmlformats.org/drawingml/2006/main">
              <a:ext uri="{FF2B5EF4-FFF2-40B4-BE49-F238E27FC236}">
                <a16:creationId xmlns:a16="http://schemas.microsoft.com/office/drawing/2014/main" id="{36E3C8BE-0C4E-4AB9-A238-0B4AD9D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B83"/>
                </a:solidFill>
              </a:defRPr>
            </a:pPr>
            <a:r>
              <a:rPr sz="2100" b="1">
                <a:solidFill>
                  <a:srgbClr val="FF5B83"/>
                </a:solidFill>
              </a:rPr>
              <a:t>3</a:t>
            </a:r>
          </a:p>
        </p:txBody>
      </p:sp>
      <p:sp>
        <p:nvSpPr>
          <p:cNvPr id="10" name="ai-head-2">
            <a:extLst xmlns:a="http://schemas.openxmlformats.org/drawingml/2006/main">
              <a:ext uri="{FF2B5EF4-FFF2-40B4-BE49-F238E27FC236}">
                <a16:creationId xmlns:a16="http://schemas.microsoft.com/office/drawing/2014/main" id="{B62411D4-84B3-444E-9123-DD60FC4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00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7F7"/>
                </a:solidFill>
              </a:defRPr>
            </a:pPr>
            <a:r>
              <a:rPr sz="1500" b="1">
                <a:solidFill>
                  <a:srgbClr val="F7F7F7"/>
                </a:solidFill>
              </a:rPr>
              <a:t>RANK WITH UNCERTAINTY</a:t>
            </a:r>
          </a:p>
        </p:txBody>
      </p:sp>
      <p:sp>
        <p:nvSpPr>
          <p:cNvPr id="11" name="ai-body-2">
            <a:extLst xmlns:a="http://schemas.openxmlformats.org/drawingml/2006/main">
              <a:ext uri="{FF2B5EF4-FFF2-40B4-BE49-F238E27FC236}">
                <a16:creationId xmlns:a16="http://schemas.microsoft.com/office/drawing/2014/main" id="{18333475-FE37-4430-B42E-874D466B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8150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6A6A8"/>
                </a:solidFill>
              </a:defRPr>
            </a:pPr>
            <a:r>
              <a:rPr sz="1425" b="0">
                <a:solidFill>
                  <a:srgbClr val="A6A6A8"/>
                </a:solidFill>
              </a:rPr>
              <a:t>Score plausible nodes, calibrate confidence and abstain when evidence is insufficient.</a:t>
            </a:r>
          </a:p>
        </p:txBody>
      </p:sp>
      <p:sp>
        <p:nvSpPr>
          <p:cNvPr id="12" name="ai-callout">
            <a:extLst xmlns:a="http://schemas.openxmlformats.org/drawingml/2006/main">
              <a:ext uri="{FF2B5EF4-FFF2-40B4-BE49-F238E27FC236}">
                <a16:creationId xmlns:a16="http://schemas.microsoft.com/office/drawing/2014/main" id="{E2773F72-775E-4879-A244-F5BA63C4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20375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6373A"/>
          </a:solidFill>
          <a:ln xmlns:a="http://schemas.openxmlformats.org/drawingml/2006/main" w="0">
            <a:solidFill>
              <a:srgbClr val="06373A"/>
            </a:solidFill>
            <a:prstDash val="solid"/>
          </a:ln>
        </p:spPr>
      </p:sp>
      <p:sp>
        <p:nvSpPr>
          <p:cNvPr id="13" name="ai-callout-text">
            <a:extLst xmlns:a="http://schemas.openxmlformats.org/drawingml/2006/main">
              <a:ext uri="{FF2B5EF4-FFF2-40B4-BE49-F238E27FC236}">
                <a16:creationId xmlns:a16="http://schemas.microsoft.com/office/drawing/2014/main" id="{300E89C8-84FD-4351-8D70-7FA7874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Without AI, GridPulse can display data. With AI, it can infer, compare and quantify uncertainty across locations.</a:t>
            </a:r>
          </a:p>
        </p:txBody>
      </p:sp>
      <p:sp>
        <p:nvSpPr>
          <p:cNvPr id="14" name="footer-4">
            <a:extLst xmlns:a="http://schemas.openxmlformats.org/drawingml/2006/main">
              <a:ext uri="{FF2B5EF4-FFF2-40B4-BE49-F238E27FC236}">
                <a16:creationId xmlns:a16="http://schemas.microsoft.com/office/drawing/2014/main" id="{74C172C7-4693-4293-8838-6D18126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1124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7B1D4300-76F4-4F98-B0DF-C2F9E11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05   /   TRUSTWORTHY TECHNICAL METHOD</a:t>
            </a:r>
          </a:p>
        </p:txBody>
      </p:sp>
      <p:sp>
        <p:nvSpPr>
          <p:cNvPr id="2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DDA5A0EB-3EE3-46E3-8D23-E839D2C9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AI proposes. Power-system physics tests. Evidence controls the claim.</a:t>
            </a:r>
          </a:p>
        </p:txBody>
      </p:sp>
      <p:sp>
        <p:nvSpPr>
          <p:cNvPr id="3" name="connector-1">
            <a:extLst xmlns:a="http://schemas.openxmlformats.org/drawingml/2006/main">
              <a:ext uri="{FF2B5EF4-FFF2-40B4-BE49-F238E27FC236}">
                <a16:creationId xmlns:a16="http://schemas.microsoft.com/office/drawing/2014/main" id="{D90A5AD9-4006-402A-AAC4-5E482A9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83"/>
          </a:solidFill>
          <a:ln xmlns:a="http://schemas.openxmlformats.org/drawingml/2006/main" w="0">
            <a:solidFill>
              <a:srgbClr val="FF5B83"/>
            </a:solidFill>
            <a:prstDash val="solid"/>
          </a:ln>
        </p:spPr>
      </p:sp>
      <p:sp>
        <p:nvSpPr>
          <p:cNvPr id="4" name="connector-2">
            <a:extLst xmlns:a="http://schemas.openxmlformats.org/drawingml/2006/main">
              <a:ext uri="{FF2B5EF4-FFF2-40B4-BE49-F238E27FC236}">
                <a16:creationId xmlns:a16="http://schemas.microsoft.com/office/drawing/2014/main" id="{117F8732-667A-4C52-972A-FA59B78F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90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83"/>
          </a:solidFill>
          <a:ln xmlns:a="http://schemas.openxmlformats.org/drawingml/2006/main" w="0">
            <a:solidFill>
              <a:srgbClr val="FF5B83"/>
            </a:solidFill>
            <a:prstDash val="solid"/>
          </a:ln>
        </p:spPr>
      </p:sp>
      <p:sp>
        <p:nvSpPr>
          <p:cNvPr id="5" name="method-card-0">
            <a:extLst xmlns:a="http://schemas.openxmlformats.org/drawingml/2006/main">
              <a:ext uri="{FF2B5EF4-FFF2-40B4-BE49-F238E27FC236}">
                <a16:creationId xmlns:a16="http://schemas.microsoft.com/office/drawing/2014/main" id="{EDF9DCB8-505C-4BD3-9E61-A16B07F1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6373A"/>
          </a:solidFill>
          <a:ln xmlns:a="http://schemas.openxmlformats.org/drawingml/2006/main" w="19050">
            <a:solidFill>
              <a:srgbClr val="FF5B83"/>
            </a:solidFill>
            <a:prstDash val="solid"/>
          </a:ln>
        </p:spPr>
      </p:sp>
      <p:sp>
        <p:nvSpPr>
          <p:cNvPr id="6" name="method-head-0">
            <a:extLst xmlns:a="http://schemas.openxmlformats.org/drawingml/2006/main">
              <a:ext uri="{FF2B5EF4-FFF2-40B4-BE49-F238E27FC236}">
                <a16:creationId xmlns:a16="http://schemas.microsoft.com/office/drawing/2014/main" id="{80066FD9-21DB-4FBB-8E69-7BFAD30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B83"/>
                </a:solidFill>
              </a:defRPr>
            </a:pPr>
            <a:r>
              <a:rPr sz="1200" b="1">
                <a:solidFill>
                  <a:srgbClr val="FF5B83"/>
                </a:solidFill>
              </a:rPr>
              <a:t>AI EVIDENCE LAYER</a:t>
            </a:r>
          </a:p>
        </p:txBody>
      </p:sp>
      <p:sp>
        <p:nvSpPr>
          <p:cNvPr id="7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B23A51F9-BADE-4455-9262-657B90E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Reconstruct context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Forecast scenarios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Rank candidates</a:t>
            </a:r>
          </a:p>
        </p:txBody>
      </p:sp>
      <p:sp>
        <p:nvSpPr>
          <p:cNvPr id="8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B6F64F12-5273-435F-B3B1-443BE941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19050">
            <a:solidFill>
              <a:srgbClr val="117A83"/>
            </a:solidFill>
            <a:prstDash val="solid"/>
          </a:ln>
        </p:spPr>
      </p:sp>
      <p:sp>
        <p:nvSpPr>
          <p:cNvPr id="9" name="method-head-1">
            <a:extLst xmlns:a="http://schemas.openxmlformats.org/drawingml/2006/main">
              <a:ext uri="{FF2B5EF4-FFF2-40B4-BE49-F238E27FC236}">
                <a16:creationId xmlns:a16="http://schemas.microsoft.com/office/drawing/2014/main" id="{3DBEEABD-280A-4718-8073-7FC1D95F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670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B83"/>
                </a:solidFill>
              </a:defRPr>
            </a:pPr>
            <a:r>
              <a:rPr sz="1200" b="1">
                <a:solidFill>
                  <a:srgbClr val="FF5B83"/>
                </a:solidFill>
              </a:rPr>
              <a:t>PHYSICS GATE</a:t>
            </a:r>
          </a:p>
        </p:txBody>
      </p:sp>
      <p:sp>
        <p:nvSpPr>
          <p:cNvPr id="10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F19DBBD4-0A5E-4B01-9E51-307E034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AC power flow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Voltage and thermal limits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Reproducible cases</a:t>
            </a:r>
          </a:p>
        </p:txBody>
      </p:sp>
      <p:sp>
        <p:nvSpPr>
          <p:cNvPr id="11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91EB1E02-5E81-49DA-A969-6BAADE2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6373A"/>
          </a:solidFill>
          <a:ln xmlns:a="http://schemas.openxmlformats.org/drawingml/2006/main" w="19050">
            <a:solidFill>
              <a:srgbClr val="FF5B83"/>
            </a:solidFill>
            <a:prstDash val="solid"/>
          </a:ln>
        </p:spPr>
      </p:sp>
      <p:sp>
        <p:nvSpPr>
          <p:cNvPr id="12" name="method-head-2">
            <a:extLst xmlns:a="http://schemas.openxmlformats.org/drawingml/2006/main">
              <a:ext uri="{FF2B5EF4-FFF2-40B4-BE49-F238E27FC236}">
                <a16:creationId xmlns:a16="http://schemas.microsoft.com/office/drawing/2014/main" id="{62B0675A-9957-4D26-B856-239BC17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B83"/>
                </a:solidFill>
              </a:defRPr>
            </a:pPr>
            <a:r>
              <a:rPr sz="1200" b="1">
                <a:solidFill>
                  <a:srgbClr val="FF5B83"/>
                </a:solidFill>
              </a:rPr>
              <a:t>DECISION LAYER</a:t>
            </a:r>
          </a:p>
        </p:txBody>
      </p:sp>
      <p:sp>
        <p:nvSpPr>
          <p:cNvPr id="13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0057DAC4-7394-4A22-8619-E0536F26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333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Capacity envelope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Confidence class</a:t>
            </a:r>
          </a:p>
          <a:p xmlns:a="http://schemas.openxmlformats.org/drawingml/2006/main">
            <a:pPr algn="l">
              <a:defRPr sz="1575" b="1">
                <a:solidFill>
                  <a:srgbClr val="F7F7F7"/>
                </a:solidFill>
              </a:defRPr>
            </a:pPr>
            <a:r>
              <a:rPr sz="1575" b="1">
                <a:solidFill>
                  <a:srgbClr val="F7F7F7"/>
                </a:solidFill>
              </a:rPr>
              <a:t>Escalate or abstain</a:t>
            </a:r>
          </a:p>
        </p:txBody>
      </p:sp>
      <p:sp>
        <p:nvSpPr>
          <p:cNvPr id="14" name="method-rule">
            <a:extLst xmlns:a="http://schemas.openxmlformats.org/drawingml/2006/main">
              <a:ext uri="{FF2B5EF4-FFF2-40B4-BE49-F238E27FC236}">
                <a16:creationId xmlns:a16="http://schemas.microsoft.com/office/drawing/2014/main" id="{995B9E5D-C264-44D4-924B-E56D336A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D84A"/>
                </a:solidFill>
              </a:defRPr>
            </a:pPr>
            <a:r>
              <a:rPr sz="1875" b="1">
                <a:solidFill>
                  <a:srgbClr val="FFD84A"/>
                </a:solidFill>
              </a:rPr>
              <a:t>No model may convert missing evidence into a confident MW claim.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3BB91F77-6154-46B2-ABFB-BFFE7730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4585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7765AE7D-49F0-4983-84AB-54CE6D7E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06   /   WHAT WE HAVE BUILT AND TESTED</a:t>
            </a:r>
          </a:p>
        </p:txBody>
      </p:sp>
      <p:sp>
        <p:nvSpPr>
          <p:cNvPr id="2" name="built-title">
            <a:extLst xmlns:a="http://schemas.openxmlformats.org/drawingml/2006/main">
              <a:ext uri="{FF2B5EF4-FFF2-40B4-BE49-F238E27FC236}">
                <a16:creationId xmlns:a16="http://schemas.microsoft.com/office/drawing/2014/main" id="{D971FDB7-FFC8-49EA-AAE9-E51F8E5A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The concept is already a working prototype, not only a research idea.</a:t>
            </a:r>
          </a:p>
        </p:txBody>
      </p:sp>
      <p:sp>
        <p:nvSpPr>
          <p:cNvPr id="3" name="built-label">
            <a:extLst xmlns:a="http://schemas.openxmlformats.org/drawingml/2006/main">
              <a:ext uri="{FF2B5EF4-FFF2-40B4-BE49-F238E27FC236}">
                <a16:creationId xmlns:a16="http://schemas.microsoft.com/office/drawing/2014/main" id="{36895CBE-1BBF-4887-B343-5B1CF3F1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B83"/>
                </a:solidFill>
              </a:defRPr>
            </a:pPr>
            <a:r>
              <a:rPr sz="975" b="1">
                <a:solidFill>
                  <a:srgbClr val="FF5B83"/>
                </a:solidFill>
              </a:rPr>
              <a:t>BUILT</a:t>
            </a:r>
          </a:p>
        </p:txBody>
      </p:sp>
      <p:sp>
        <p:nvSpPr>
          <p:cNvPr id="4" name="b1-dot">
            <a:extLst xmlns:a="http://schemas.openxmlformats.org/drawingml/2006/main">
              <a:ext uri="{FF2B5EF4-FFF2-40B4-BE49-F238E27FC236}">
                <a16:creationId xmlns:a16="http://schemas.microsoft.com/office/drawing/2014/main" id="{7E7761F3-B4EA-47F2-93C9-9A768FFB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B83"/>
                </a:solidFill>
              </a:defRPr>
            </a:pPr>
            <a:r>
              <a:rPr sz="150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5" name="b1">
            <a:extLst xmlns:a="http://schemas.openxmlformats.org/drawingml/2006/main">
              <a:ext uri="{FF2B5EF4-FFF2-40B4-BE49-F238E27FC236}">
                <a16:creationId xmlns:a16="http://schemas.microsoft.com/office/drawing/2014/main" id="{2C23CE88-B1D4-434A-91C3-E8130EF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</a:defRPr>
            </a:pPr>
            <a:r>
              <a:rPr sz="1500" b="0">
                <a:solidFill>
                  <a:srgbClr val="F7F7F7"/>
                </a:solidFill>
              </a:rPr>
              <a:t>Germany-wide Power Finder with site-to-node investigation.</a:t>
            </a:r>
          </a:p>
        </p:txBody>
      </p:sp>
      <p:sp>
        <p:nvSpPr>
          <p:cNvPr id="6" name="b2-dot">
            <a:extLst xmlns:a="http://schemas.openxmlformats.org/drawingml/2006/main">
              <a:ext uri="{FF2B5EF4-FFF2-40B4-BE49-F238E27FC236}">
                <a16:creationId xmlns:a16="http://schemas.microsoft.com/office/drawing/2014/main" id="{C0A7CC76-C2FB-4E27-9F6C-1FCF806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B83"/>
                </a:solidFill>
              </a:defRPr>
            </a:pPr>
            <a:r>
              <a:rPr sz="150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7" name="b2">
            <a:extLst xmlns:a="http://schemas.openxmlformats.org/drawingml/2006/main">
              <a:ext uri="{FF2B5EF4-FFF2-40B4-BE49-F238E27FC236}">
                <a16:creationId xmlns:a16="http://schemas.microsoft.com/office/drawing/2014/main" id="{87B787D7-C8EB-4F14-8B03-014A072E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9087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</a:defRPr>
            </a:pPr>
            <a:r>
              <a:rPr sz="1500" b="0">
                <a:solidFill>
                  <a:srgbClr val="F7F7F7"/>
                </a:solidFill>
              </a:rPr>
              <a:t>Backtesting pipeline for topology, scenarios and capacity envelopes.</a:t>
            </a:r>
          </a:p>
        </p:txBody>
      </p:sp>
      <p:sp>
        <p:nvSpPr>
          <p:cNvPr id="8" name="b3-dot">
            <a:extLst xmlns:a="http://schemas.openxmlformats.org/drawingml/2006/main">
              <a:ext uri="{FF2B5EF4-FFF2-40B4-BE49-F238E27FC236}">
                <a16:creationId xmlns:a16="http://schemas.microsoft.com/office/drawing/2014/main" id="{A2C90797-5ABE-4A38-A9A8-7E5ACC6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B83"/>
                </a:solidFill>
              </a:defRPr>
            </a:pPr>
            <a:r>
              <a:rPr sz="1500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9" name="b3">
            <a:extLst xmlns:a="http://schemas.openxmlformats.org/drawingml/2006/main">
              <a:ext uri="{FF2B5EF4-FFF2-40B4-BE49-F238E27FC236}">
                <a16:creationId xmlns:a16="http://schemas.microsoft.com/office/drawing/2014/main" id="{B297FDEE-B996-49DE-8F04-B1875381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</a:defRPr>
            </a:pPr>
            <a:r>
              <a:rPr sz="1500" b="0">
                <a:solidFill>
                  <a:srgbClr val="F7F7F7"/>
                </a:solidFill>
              </a:rPr>
              <a:t>Data provenance, confidence classes and preliminary/validated boundaries.</a:t>
            </a:r>
          </a:p>
        </p:txBody>
      </p:sp>
      <p:sp>
        <p:nvSpPr>
          <p:cNvPr id="10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4A371CD6-2A2C-4876-BD50-F93B4C45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11" name="tested-label">
            <a:extLst xmlns:a="http://schemas.openxmlformats.org/drawingml/2006/main">
              <a:ext uri="{FF2B5EF4-FFF2-40B4-BE49-F238E27FC236}">
                <a16:creationId xmlns:a16="http://schemas.microsoft.com/office/drawing/2014/main" id="{689C6325-051B-49B7-A028-2D9327C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B83"/>
                </a:solidFill>
              </a:defRPr>
            </a:pPr>
            <a:r>
              <a:rPr sz="975" b="1">
                <a:solidFill>
                  <a:srgbClr val="FF5B83"/>
                </a:solidFill>
              </a:rPr>
              <a:t>EARLY MARKET TEST</a:t>
            </a:r>
          </a:p>
        </p:txBody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98DCB643-13FD-4A81-8611-B0EF1313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7F7"/>
                </a:solidFill>
              </a:defRPr>
            </a:pPr>
            <a:r>
              <a:rPr sz="3900" b="1">
                <a:solidFill>
                  <a:srgbClr val="F7F7F7"/>
                </a:solidFill>
              </a:rPr>
              <a:t>3</a:t>
            </a:r>
          </a:p>
        </p:txBody>
      </p:sp>
      <p:sp>
        <p:nvSpPr>
          <p:cNvPr id="13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B1F70F5D-884D-401B-AF9C-EDD8422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7F7"/>
                </a:solidFill>
              </a:defRPr>
            </a:pPr>
            <a:r>
              <a:rPr sz="1500" b="0">
                <a:solidFill>
                  <a:srgbClr val="F7F7F7"/>
                </a:solidFill>
              </a:rPr>
              <a:t>developer conversations</a:t>
            </a:r>
          </a:p>
        </p:txBody>
      </p:sp>
      <p:sp>
        <p:nvSpPr>
          <p:cNvPr id="14" name="metric-2">
            <a:extLst xmlns:a="http://schemas.openxmlformats.org/drawingml/2006/main">
              <a:ext uri="{FF2B5EF4-FFF2-40B4-BE49-F238E27FC236}">
                <a16:creationId xmlns:a16="http://schemas.microsoft.com/office/drawing/2014/main" id="{9D5B218E-5EA6-4711-90A2-9C30CB11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7F7"/>
                </a:solidFill>
              </a:defRPr>
            </a:pPr>
            <a:r>
              <a:rPr sz="3225" b="1">
                <a:solidFill>
                  <a:srgbClr val="F7F7F7"/>
                </a:solidFill>
              </a:rPr>
              <a:t>€2,000</a:t>
            </a:r>
          </a:p>
        </p:txBody>
      </p:sp>
      <p:sp>
        <p:nvSpPr>
          <p:cNvPr id="15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9FD36C2B-D542-4011-B3F0-7ADC7034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14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7F7"/>
                </a:solidFill>
              </a:defRPr>
            </a:pPr>
            <a:r>
              <a:rPr sz="1350" b="0">
                <a:solidFill>
                  <a:srgbClr val="F7F7F7"/>
                </a:solidFill>
              </a:rPr>
              <a:t>monthly price tested</a:t>
            </a:r>
          </a:p>
        </p:txBody>
      </p:sp>
      <p:sp>
        <p:nvSpPr>
          <p:cNvPr id="16" name="tested-foot">
            <a:extLst xmlns:a="http://schemas.openxmlformats.org/drawingml/2006/main">
              <a:ext uri="{FF2B5EF4-FFF2-40B4-BE49-F238E27FC236}">
                <a16:creationId xmlns:a16="http://schemas.microsoft.com/office/drawing/2014/main" id="{91F4318B-C86E-4FBD-B20A-242531D4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7F7"/>
                </a:solidFill>
              </a:defRPr>
            </a:pPr>
            <a:r>
              <a:rPr sz="1125" b="0">
                <a:solidFill>
                  <a:srgbClr val="F7F7F7"/>
                </a:solidFill>
              </a:rPr>
              <a:t>Interest expressed; no revenue yet.</a:t>
            </a:r>
          </a:p>
        </p:txBody>
      </p:sp>
      <p:sp>
        <p:nvSpPr>
          <p:cNvPr id="17" name="built-next">
            <a:extLst xmlns:a="http://schemas.openxmlformats.org/drawingml/2006/main">
              <a:ext uri="{FF2B5EF4-FFF2-40B4-BE49-F238E27FC236}">
                <a16:creationId xmlns:a16="http://schemas.microsoft.com/office/drawing/2014/main" id="{9AFEC44A-1DA0-4AC9-BC93-2608CBB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83"/>
                </a:solidFill>
              </a:defRPr>
            </a:pPr>
            <a:r>
              <a:rPr sz="1800" b="1">
                <a:solidFill>
                  <a:srgbClr val="FF5B83"/>
                </a:solidFill>
              </a:rPr>
              <a:t>Next proof: independent technical benchmarking and a pilot using real project cases.</a:t>
            </a:r>
          </a:p>
        </p:txBody>
      </p:sp>
      <p:sp>
        <p:nvSpPr>
          <p:cNvPr id="18" name="footer-6">
            <a:extLst xmlns:a="http://schemas.openxmlformats.org/drawingml/2006/main">
              <a:ext uri="{FF2B5EF4-FFF2-40B4-BE49-F238E27FC236}">
                <a16:creationId xmlns:a16="http://schemas.microsoft.com/office/drawing/2014/main" id="{719E54F6-6F71-418A-AF6C-3749069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13928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7">
            <a:extLst xmlns:a="http://schemas.openxmlformats.org/drawingml/2006/main">
              <a:ext uri="{FF2B5EF4-FFF2-40B4-BE49-F238E27FC236}">
                <a16:creationId xmlns:a16="http://schemas.microsoft.com/office/drawing/2014/main" id="{821BACFE-C4A1-4E53-B95F-78617A89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07   /   WHAT WE HAVE LEARNED</a:t>
            </a:r>
          </a:p>
        </p:txBody>
      </p:sp>
      <p:sp>
        <p:nvSpPr>
          <p:cNvPr id="2" name="learning-title">
            <a:extLst xmlns:a="http://schemas.openxmlformats.org/drawingml/2006/main">
              <a:ext uri="{FF2B5EF4-FFF2-40B4-BE49-F238E27FC236}">
                <a16:creationId xmlns:a16="http://schemas.microsoft.com/office/drawing/2014/main" id="{CA4ADB8B-1B86-46CC-AA64-EE8A417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The hardest lesson: screening is valuable only when its limits are visible.</a:t>
            </a:r>
          </a:p>
        </p:txBody>
      </p:sp>
      <p:sp>
        <p:nvSpPr>
          <p:cNvPr id="3" name="wrong">
            <a:extLst xmlns:a="http://schemas.openxmlformats.org/drawingml/2006/main">
              <a:ext uri="{FF2B5EF4-FFF2-40B4-BE49-F238E27FC236}">
                <a16:creationId xmlns:a16="http://schemas.microsoft.com/office/drawing/2014/main" id="{79886EA8-83C1-4D6E-ABBA-5407076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4762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A0D16"/>
          </a:solidFill>
          <a:ln xmlns:a="http://schemas.openxmlformats.org/drawingml/2006/main" w="19050">
            <a:solidFill>
              <a:srgbClr val="FF5B83"/>
            </a:solidFill>
            <a:prstDash val="solid"/>
          </a:ln>
        </p:spPr>
      </p:sp>
      <p:sp>
        <p:nvSpPr>
          <p:cNvPr id="4" name="wrong-head">
            <a:extLst xmlns:a="http://schemas.openxmlformats.org/drawingml/2006/main">
              <a:ext uri="{FF2B5EF4-FFF2-40B4-BE49-F238E27FC236}">
                <a16:creationId xmlns:a16="http://schemas.microsoft.com/office/drawing/2014/main" id="{F4277C6E-D64D-4356-AA40-1E6EC76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B83"/>
                </a:solidFill>
              </a:defRPr>
            </a:pPr>
            <a:r>
              <a:rPr sz="1050" b="1">
                <a:solidFill>
                  <a:srgbClr val="FF5B83"/>
                </a:solidFill>
              </a:rPr>
              <a:t>WHAT DID NOT WORK</a:t>
            </a:r>
          </a:p>
        </p:txBody>
      </p:sp>
      <p:sp>
        <p:nvSpPr>
          <p:cNvPr id="5" name="wrong-copy">
            <a:extLst xmlns:a="http://schemas.openxmlformats.org/drawingml/2006/main">
              <a:ext uri="{FF2B5EF4-FFF2-40B4-BE49-F238E27FC236}">
                <a16:creationId xmlns:a16="http://schemas.microsoft.com/office/drawing/2014/main" id="{BCB83AF9-7BAA-4074-8B90-6D07A39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7"/>
                </a:solidFill>
              </a:defRPr>
            </a:pPr>
            <a:r>
              <a:rPr sz="1875" b="1">
                <a:solidFill>
                  <a:srgbClr val="F7F7F7"/>
                </a:solidFill>
              </a:rPr>
              <a:t>Trying to turn public data directly into one exact available-capacity number.</a:t>
            </a:r>
          </a:p>
        </p:txBody>
      </p:sp>
      <p:sp>
        <p:nvSpPr>
          <p:cNvPr id="6" name="learned">
            <a:extLst xmlns:a="http://schemas.openxmlformats.org/drawingml/2006/main">
              <a:ext uri="{FF2B5EF4-FFF2-40B4-BE49-F238E27FC236}">
                <a16:creationId xmlns:a16="http://schemas.microsoft.com/office/drawing/2014/main" id="{E0421741-1655-4528-AFD0-489CC217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51435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6373A"/>
          </a:solidFill>
          <a:ln xmlns:a="http://schemas.openxmlformats.org/drawingml/2006/main" w="19050">
            <a:solidFill>
              <a:srgbClr val="117A83"/>
            </a:solidFill>
            <a:prstDash val="solid"/>
          </a:ln>
        </p:spPr>
      </p:sp>
      <p:sp>
        <p:nvSpPr>
          <p:cNvPr id="7" name="learned-head">
            <a:extLst xmlns:a="http://schemas.openxmlformats.org/drawingml/2006/main">
              <a:ext uri="{FF2B5EF4-FFF2-40B4-BE49-F238E27FC236}">
                <a16:creationId xmlns:a16="http://schemas.microsoft.com/office/drawing/2014/main" id="{59742E54-64E7-49F2-AD71-B724E527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B83"/>
                </a:solidFill>
              </a:defRPr>
            </a:pPr>
            <a:r>
              <a:rPr sz="1050" b="1">
                <a:solidFill>
                  <a:srgbClr val="FF5B83"/>
                </a:solidFill>
              </a:rPr>
              <a:t>WHAT CHANGED</a:t>
            </a:r>
          </a:p>
        </p:txBody>
      </p:sp>
      <p:sp>
        <p:nvSpPr>
          <p:cNvPr id="8" name="learned-copy">
            <a:extLst xmlns:a="http://schemas.openxmlformats.org/drawingml/2006/main">
              <a:ext uri="{FF2B5EF4-FFF2-40B4-BE49-F238E27FC236}">
                <a16:creationId xmlns:a16="http://schemas.microsoft.com/office/drawing/2014/main" id="{4E6EA0EF-EE4D-453B-9B2B-6F54229C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95625"/>
            <a:ext cx="4238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7F7"/>
                </a:solidFill>
              </a:defRPr>
            </a:pPr>
            <a:r>
              <a:rPr sz="1875" b="1">
                <a:solidFill>
                  <a:srgbClr val="F7F7F7"/>
                </a:solidFill>
              </a:rPr>
              <a:t>GridPulse now produces a range, confidence, evidence class and explicit request for missing DSO/TSO inputs.</a:t>
            </a:r>
          </a:p>
        </p:txBody>
      </p:sp>
      <p:sp>
        <p:nvSpPr>
          <p:cNvPr id="9" name="learning-end">
            <a:extLst xmlns:a="http://schemas.openxmlformats.org/drawingml/2006/main">
              <a:ext uri="{FF2B5EF4-FFF2-40B4-BE49-F238E27FC236}">
                <a16:creationId xmlns:a16="http://schemas.microsoft.com/office/drawing/2014/main" id="{01E09F76-9886-4D5D-81ED-DD07CD41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5B83"/>
                </a:solidFill>
              </a:defRPr>
            </a:pPr>
            <a:r>
              <a:rPr sz="2100" b="1">
                <a:solidFill>
                  <a:srgbClr val="FF5B83"/>
                </a:solidFill>
              </a:rPr>
              <a:t>Trust is not a disclaimer added later. It is part of the model architecture.</a:t>
            </a:r>
          </a:p>
        </p:txBody>
      </p:sp>
      <p:sp>
        <p:nvSpPr>
          <p:cNvPr id="10" name="footer-7">
            <a:extLst xmlns:a="http://schemas.openxmlformats.org/drawingml/2006/main">
              <a:ext uri="{FF2B5EF4-FFF2-40B4-BE49-F238E27FC236}">
                <a16:creationId xmlns:a16="http://schemas.microsoft.com/office/drawing/2014/main" id="{8194EE72-C47D-49B8-B5A0-DE1E8E8E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3171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8">
            <a:extLst xmlns:a="http://schemas.openxmlformats.org/drawingml/2006/main">
              <a:ext uri="{FF2B5EF4-FFF2-40B4-BE49-F238E27FC236}">
                <a16:creationId xmlns:a16="http://schemas.microsoft.com/office/drawing/2014/main" id="{EC870F2D-6D3E-4A0D-BB43-169D5C97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676C"/>
                </a:solidFill>
              </a:defRPr>
            </a:pPr>
            <a:r>
              <a:rPr sz="900" b="1">
                <a:solidFill>
                  <a:srgbClr val="67676C"/>
                </a:solidFill>
              </a:rPr>
              <a:t>08   /   WHAT THIS COULD BECOME</a:t>
            </a:r>
          </a:p>
        </p:txBody>
      </p:sp>
      <p:sp>
        <p:nvSpPr>
          <p:cNvPr id="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C4FB7C0F-001C-444F-B2CA-65BDDB14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7F7"/>
                </a:solidFill>
              </a:defRPr>
            </a:pPr>
            <a:r>
              <a:rPr sz="2925" b="1">
                <a:solidFill>
                  <a:srgbClr val="F7F7F7"/>
                </a:solidFill>
              </a:rPr>
              <a:t>A trusted grid-intelligence layer for Europe's next generation of AI infrastructure.</a:t>
            </a:r>
          </a:p>
        </p:txBody>
      </p:sp>
      <p:sp>
        <p:nvSpPr>
          <p:cNvPr id="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247E9517-8056-4F66-84CB-FE227641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7F7"/>
                </a:solidFill>
              </a:defRPr>
            </a:pPr>
            <a:r>
              <a:rPr sz="2025" b="1">
                <a:solidFill>
                  <a:srgbClr val="F7F7F7"/>
                </a:solidFill>
              </a:rPr>
              <a:t>If it works, GridPulse moves from screening one site to helping developers compare portfolios, prepare stronger operator enquiries and later coordinate flexible data-centre demand with grid conditions.</a:t>
            </a:r>
          </a:p>
        </p:txBody>
      </p:sp>
      <p:sp>
        <p:nvSpPr>
          <p:cNvPr id="4" name="future-panel">
            <a:extLst xmlns:a="http://schemas.openxmlformats.org/drawingml/2006/main">
              <a:ext uri="{FF2B5EF4-FFF2-40B4-BE49-F238E27FC236}">
                <a16:creationId xmlns:a16="http://schemas.microsoft.com/office/drawing/2014/main" id="{8C546E10-D218-4FAA-9388-8059C3E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2385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17A83"/>
          </a:solidFill>
          <a:ln xmlns:a="http://schemas.openxmlformats.org/drawingml/2006/main" w="0">
            <a:solidFill>
              <a:srgbClr val="117A83"/>
            </a:solidFill>
            <a:prstDash val="solid"/>
          </a:ln>
        </p:spPr>
      </p:sp>
      <p:sp>
        <p:nvSpPr>
          <p:cNvPr id="5" name="future-panel-head">
            <a:extLst xmlns:a="http://schemas.openxmlformats.org/drawingml/2006/main">
              <a:ext uri="{FF2B5EF4-FFF2-40B4-BE49-F238E27FC236}">
                <a16:creationId xmlns:a16="http://schemas.microsoft.com/office/drawing/2014/main" id="{E72CEC78-A96F-41DF-8411-D2E29F5B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2887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B83"/>
                </a:solidFill>
              </a:defRPr>
            </a:pPr>
            <a:r>
              <a:rPr sz="1050" b="1">
                <a:solidFill>
                  <a:srgbClr val="FF5B83"/>
                </a:solidFill>
              </a:rPr>
              <a:t>THE LAB CAN HELP US PROVE</a:t>
            </a:r>
          </a:p>
        </p:txBody>
      </p:sp>
      <p:sp>
        <p:nvSpPr>
          <p:cNvPr id="6" name="f1-dot">
            <a:extLst xmlns:a="http://schemas.openxmlformats.org/drawingml/2006/main">
              <a:ext uri="{FF2B5EF4-FFF2-40B4-BE49-F238E27FC236}">
                <a16:creationId xmlns:a16="http://schemas.microsoft.com/office/drawing/2014/main" id="{AB6DF6C1-83EA-42A7-A1AD-6D9BFDB3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956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B83"/>
                </a:solidFill>
              </a:defRPr>
            </a:pPr>
            <a:r>
              <a:rPr sz="1425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7" name="f1">
            <a:extLst xmlns:a="http://schemas.openxmlformats.org/drawingml/2006/main">
              <a:ext uri="{FF2B5EF4-FFF2-40B4-BE49-F238E27FC236}">
                <a16:creationId xmlns:a16="http://schemas.microsoft.com/office/drawing/2014/main" id="{F1BC812C-8646-4078-A88E-FA7F73D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9562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</a:defRPr>
            </a:pPr>
            <a:r>
              <a:rPr sz="1425" b="0">
                <a:solidFill>
                  <a:srgbClr val="F7F7F7"/>
                </a:solidFill>
              </a:rPr>
              <a:t>Technical reliability</a:t>
            </a:r>
          </a:p>
        </p:txBody>
      </p:sp>
      <p:sp>
        <p:nvSpPr>
          <p:cNvPr id="8" name="f2-dot">
            <a:extLst xmlns:a="http://schemas.openxmlformats.org/drawingml/2006/main">
              <a:ext uri="{FF2B5EF4-FFF2-40B4-BE49-F238E27FC236}">
                <a16:creationId xmlns:a16="http://schemas.microsoft.com/office/drawing/2014/main" id="{5EC4368F-16AD-47A9-B8FF-B090FDB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B83"/>
                </a:solidFill>
              </a:defRPr>
            </a:pPr>
            <a:r>
              <a:rPr sz="1425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9" name="f2">
            <a:extLst xmlns:a="http://schemas.openxmlformats.org/drawingml/2006/main">
              <a:ext uri="{FF2B5EF4-FFF2-40B4-BE49-F238E27FC236}">
                <a16:creationId xmlns:a16="http://schemas.microsoft.com/office/drawing/2014/main" id="{F27BD41E-73EF-492F-8F17-16FB1270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385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</a:defRPr>
            </a:pPr>
            <a:r>
              <a:rPr sz="1425" b="0">
                <a:solidFill>
                  <a:srgbClr val="F7F7F7"/>
                </a:solidFill>
              </a:rPr>
              <a:t>Customer urgency</a:t>
            </a:r>
          </a:p>
        </p:txBody>
      </p:sp>
      <p:sp>
        <p:nvSpPr>
          <p:cNvPr id="10" name="f3-dot">
            <a:extLst xmlns:a="http://schemas.openxmlformats.org/drawingml/2006/main">
              <a:ext uri="{FF2B5EF4-FFF2-40B4-BE49-F238E27FC236}">
                <a16:creationId xmlns:a16="http://schemas.microsoft.com/office/drawing/2014/main" id="{97424682-B837-42C7-9B55-8A68BFC9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814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B83"/>
                </a:solidFill>
              </a:defRPr>
            </a:pPr>
            <a:r>
              <a:rPr sz="1425" b="1">
                <a:solidFill>
                  <a:srgbClr val="FF5B83"/>
                </a:solidFill>
              </a:rPr>
              <a:t>•</a:t>
            </a:r>
          </a:p>
        </p:txBody>
      </p:sp>
      <p:sp>
        <p:nvSpPr>
          <p:cNvPr id="11" name="f3">
            <a:extLst xmlns:a="http://schemas.openxmlformats.org/drawingml/2006/main">
              <a:ext uri="{FF2B5EF4-FFF2-40B4-BE49-F238E27FC236}">
                <a16:creationId xmlns:a16="http://schemas.microsoft.com/office/drawing/2014/main" id="{376C62DD-B3CB-4F48-A33B-3B2EAE52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181475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7F7"/>
                </a:solidFill>
              </a:defRPr>
            </a:pPr>
            <a:r>
              <a:rPr sz="1425" b="0">
                <a:solidFill>
                  <a:srgbClr val="F7F7F7"/>
                </a:solidFill>
              </a:rPr>
              <a:t>Pilot readiness</a:t>
            </a:r>
          </a:p>
        </p:txBody>
      </p:sp>
      <p:sp>
        <p:nvSpPr>
          <p:cNvPr id="12" name="team">
            <a:extLst xmlns:a="http://schemas.openxmlformats.org/drawingml/2006/main">
              <a:ext uri="{FF2B5EF4-FFF2-40B4-BE49-F238E27FC236}">
                <a16:creationId xmlns:a16="http://schemas.microsoft.com/office/drawing/2014/main" id="{ED0717C9-1247-4DF7-8BFE-49083F7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6A6A8"/>
                </a:solidFill>
              </a:defRPr>
            </a:pPr>
            <a:r>
              <a:rPr sz="1500" b="0">
                <a:solidFill>
                  <a:srgbClr val="A6A6A8"/>
                </a:solidFill>
              </a:rPr>
              <a:t>Kshitij “Krish” Jindal - Business     |     Sina Khedmati - Product, data and model</a:t>
            </a:r>
          </a:p>
        </p:txBody>
      </p:sp>
      <p:sp>
        <p:nvSpPr>
          <p:cNvPr id="13" name="close">
            <a:extLst xmlns:a="http://schemas.openxmlformats.org/drawingml/2006/main">
              <a:ext uri="{FF2B5EF4-FFF2-40B4-BE49-F238E27FC236}">
                <a16:creationId xmlns:a16="http://schemas.microsoft.com/office/drawing/2014/main" id="{0C4CFA69-1DA0-4D56-85AE-EB2094A8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83"/>
                </a:solidFill>
              </a:defRPr>
            </a:pPr>
            <a:r>
              <a:rPr sz="1875" b="1">
                <a:solidFill>
                  <a:srgbClr val="FF5B83"/>
                </a:solidFill>
              </a:rPr>
              <a:t>We want to prove where a large load can actually connect - and how confidently we know.</a:t>
            </a:r>
          </a:p>
        </p:txBody>
      </p:sp>
      <p:sp>
        <p:nvSpPr>
          <p:cNvPr id="14" name="footer-8">
            <a:extLst xmlns:a="http://schemas.openxmlformats.org/drawingml/2006/main">
              <a:ext uri="{FF2B5EF4-FFF2-40B4-BE49-F238E27FC236}">
                <a16:creationId xmlns:a16="http://schemas.microsoft.com/office/drawing/2014/main" id="{CD9F2D4A-7054-417A-B32D-3C5137E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7676C"/>
                </a:solidFill>
              </a:defRPr>
            </a:pPr>
            <a:r>
              <a:rPr sz="750" b="0">
                <a:solidFill>
                  <a:srgbClr val="6767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806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2026-09-02T18:54:38.1960000Z</dcterms:created>
  <dcterms:modified xsi:type="dcterms:W3CDTF">2026-09-02T18:54:38.1960000Z</dcterms:modified>
</coreProperties>
</file>