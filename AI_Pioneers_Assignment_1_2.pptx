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ec5b03c80d84f4d" /><Relationship Type="http://schemas.openxmlformats.org/officeDocument/2006/relationships/extended-properties" Target="/docProps/app.xml" Id="R949f83b9dae64967" /><Relationship Type="http://schemas.openxmlformats.org/officeDocument/2006/relationships/officeDocument" Target="/ppt/presentation.xml" Id="R3c33cbeab59f49a4" /></Relationships>
</file>

<file path=ppt/presentation.xml><?xml version="1.0" encoding="utf-8"?>
<p:presentation xmlns:p="http://schemas.openxmlformats.org/presentationml/2006/main">
  <p:sldMasterIdLst>
    <p:sldMasterId xmlns:r="http://schemas.openxmlformats.org/officeDocument/2006/relationships" id="2147483648" r:id="R88a912092596413e"/>
  </p:sldMasterIdLst>
  <p:notesMasterIdLst>
    <p:notesMasterId xmlns:r="http://schemas.openxmlformats.org/officeDocument/2006/relationships" r:id="R61d5aa64ff1c4e81"/>
  </p:notesMasterIdLst>
  <p:sldIdLst>
    <p:sldId xmlns:r="http://schemas.openxmlformats.org/officeDocument/2006/relationships" id="256" r:id="Raeaf1e84aec54288"/>
    <p:sldId xmlns:r="http://schemas.openxmlformats.org/officeDocument/2006/relationships" id="257" r:id="Rcef7d4ec0b1a475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0e1a6a9f26c4f2e" /><Relationship Type="http://schemas.openxmlformats.org/officeDocument/2006/relationships/slideMaster" Target="/ppt/slideMasters/slideMaster1.xml" Id="R88a912092596413e" /><Relationship Type="http://schemas.openxmlformats.org/officeDocument/2006/relationships/notesMaster" Target="/ppt/notesMasters/notesMaster1.xml" Id="R61d5aa64ff1c4e81" /><Relationship Type="http://schemas.openxmlformats.org/officeDocument/2006/relationships/presProps" Target="/ppt/presProps.xml" Id="Rdfc1e09201df4f28" /><Relationship Type="http://schemas.openxmlformats.org/officeDocument/2006/relationships/tableStyles" Target="/ppt/tableStyles.xml" Id="R3359bd2c68da46ad" /><Relationship Type="http://schemas.openxmlformats.org/officeDocument/2006/relationships/slide" Target="/ppt/slides/slide1.xml" Id="Raeaf1e84aec54288" /><Relationship Type="http://schemas.openxmlformats.org/officeDocument/2006/relationships/slide" Target="/ppt/slides/slide2.xml" Id="Rcef7d4ec0b1a475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ff64901f1b14e9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5bbf2e35d534ba6" /><Relationship Type="http://schemas.openxmlformats.org/officeDocument/2006/relationships/notesMaster" Target="/ppt/notesMasters/notesMaster1.xml" Id="Rce58bfc3f2bb44b7" /></Relationships>
</file>

<file path=ppt/notesSlides/_rels/notesSlide2.xml.rels>&#65279;<?xml version="1.0" encoding="utf-8"?><Relationships xmlns="http://schemas.openxmlformats.org/package/2006/relationships"><Relationship Type="http://schemas.openxmlformats.org/officeDocument/2006/relationships/slide" Target="/ppt/slides/slide2.xml" Id="R1f365c8049a64847" /><Relationship Type="http://schemas.openxmlformats.org/officeDocument/2006/relationships/notesMaster" Target="/ppt/notesMasters/notesMaster1.xml" Id="Rea98662e88a247d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agent has moved through fixed orchestration, routing, and tool choice into a multi-step plan/act/observe/revise cycle. Stress that autonomy is determined by the process, not by the model name.</a:t>
            </a:r>
          </a:p>
          <a:p xmlns:a="http://schemas.openxmlformats.org/drawingml/2006/main">
            <a:r>
              <a:t/>
            </a:r>
          </a:p>
          <a:p xmlns:a="http://schemas.openxmlformats.org/drawingml/2006/main">
            <a:r>
              <a:t>[Sources]</a:t>
            </a:r>
          </a:p>
          <a:p xmlns:a="http://schemas.openxmlformats.org/drawingml/2006/main">
            <a:r>
              <a:t>- User-provided assignment screenshots and implemented hiring-agent project audit (conversation, 2026-08-28).</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gate sits after evidence validation and before the final downloadable PDF. Approval triggers revalidation and PDF generation. Revision returns the run to drafting, rejection stops it, and no response leaves the run paused.</a:t>
            </a:r>
          </a:p>
          <a:p xmlns:a="http://schemas.openxmlformats.org/drawingml/2006/main">
            <a:r>
              <a:t/>
            </a:r>
          </a:p>
          <a:p xmlns:a="http://schemas.openxmlformats.org/drawingml/2006/main">
            <a:r>
              <a:t>[Sources]</a:t>
            </a:r>
          </a:p>
          <a:p xmlns:a="http://schemas.openxmlformats.org/drawingml/2006/main">
            <a:r>
              <a:t>- User-provided assignment screenshots and implemented hiring-agent project audit (conversation, 2026-08-28).</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082111f7a5f4bf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93235485cb846ff" /><Relationship Type="http://schemas.openxmlformats.org/officeDocument/2006/relationships/slideLayout" Target="/ppt/slideLayouts/slideLayout1.xml" Id="Rc626b6ddc7c14c5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626b6ddc7c14c5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8635e4edb4546e1" /><Relationship Type="http://schemas.openxmlformats.org/officeDocument/2006/relationships/notesSlide" Target="/ppt/notesSlides/notesSlide1.xml" Id="R19dafc8ac084403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fb6d7d8e64042bd" /><Relationship Type="http://schemas.openxmlformats.org/officeDocument/2006/relationships/notesSlide" Target="/ppt/notesSlides/notesSlide2.xml" Id="Refcebefe1f41459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lavender-wash">
            <a:extLst xmlns:a="http://schemas.openxmlformats.org/drawingml/2006/main">
              <a:ext uri="{FF2B5EF4-FFF2-40B4-BE49-F238E27FC236}">
                <a16:creationId xmlns:a16="http://schemas.microsoft.com/office/drawing/2014/main" id="{268609C6-A48C-4CA0-B8D1-CC4CA2B6A3D0}"/>
              </a:ext>
            </a:extLst>
          </p:cNvPr>
          <p:cNvSpPr>
            <a:spLocks xmlns:a="http://schemas.openxmlformats.org/drawingml/2006/main" noGrp="1"/>
          </p:cNvSpPr>
          <p:nvPr/>
        </p:nvSpPr>
        <p:spPr>
          <a:xfrm xmlns:a="http://schemas.openxmlformats.org/drawingml/2006/main">
            <a:off x="0" y="0"/>
            <a:ext cx="2143125" cy="6858000"/>
          </a:xfrm>
          <a:prstGeom xmlns:a="http://schemas.openxmlformats.org/drawingml/2006/main" prst="roundRect">
            <a:avLst>
              <a:gd name="adj" fmla="val 5333"/>
            </a:avLst>
          </a:prstGeom>
          <a:solidFill xmlns:a="http://schemas.openxmlformats.org/drawingml/2006/main">
            <a:srgbClr val="F7E9FF"/>
          </a:solidFill>
          <a:ln xmlns:a="http://schemas.openxmlformats.org/drawingml/2006/main" w="0">
            <a:noFill/>
            <a:prstDash val="solid"/>
          </a:ln>
        </p:spPr>
      </p:sp>
      <p:sp>
        <p:nvSpPr>
          <p:cNvPr id="2" name="cyan-arc-1">
            <a:extLst xmlns:a="http://schemas.openxmlformats.org/drawingml/2006/main">
              <a:ext uri="{FF2B5EF4-FFF2-40B4-BE49-F238E27FC236}">
                <a16:creationId xmlns:a16="http://schemas.microsoft.com/office/drawing/2014/main" id="{43E87C0F-A9DB-430E-B291-6CE9D41D18AF}"/>
              </a:ext>
            </a:extLst>
          </p:cNvPr>
          <p:cNvSpPr>
            <a:spLocks xmlns:a="http://schemas.openxmlformats.org/drawingml/2006/main" noGrp="1"/>
          </p:cNvSpPr>
          <p:nvPr/>
        </p:nvSpPr>
        <p:spPr>
          <a:xfrm xmlns:a="http://schemas.openxmlformats.org/drawingml/2006/main">
            <a:off x="8572500" y="38100"/>
            <a:ext cx="3524250" cy="6172200"/>
          </a:xfrm>
          <a:prstGeom xmlns:a="http://schemas.openxmlformats.org/drawingml/2006/main" prst="ellipse">
            <a:avLst/>
          </a:prstGeom>
          <a:noFill xmlns:a="http://schemas.openxmlformats.org/drawingml/2006/main"/>
          <a:ln xmlns:a="http://schemas.openxmlformats.org/drawingml/2006/main" w="171450">
            <a:solidFill>
              <a:srgbClr val="DDF7F8"/>
            </a:solidFill>
            <a:prstDash val="solid"/>
          </a:ln>
        </p:spPr>
      </p:sp>
      <p:sp>
        <p:nvSpPr>
          <p:cNvPr id="3" name="cyan-arc-2">
            <a:extLst xmlns:a="http://schemas.openxmlformats.org/drawingml/2006/main">
              <a:ext uri="{FF2B5EF4-FFF2-40B4-BE49-F238E27FC236}">
                <a16:creationId xmlns:a16="http://schemas.microsoft.com/office/drawing/2014/main" id="{AC344AF4-7E78-4DB7-B593-3AA225CB70DE}"/>
              </a:ext>
            </a:extLst>
          </p:cNvPr>
          <p:cNvSpPr>
            <a:spLocks xmlns:a="http://schemas.openxmlformats.org/drawingml/2006/main" noGrp="1"/>
          </p:cNvSpPr>
          <p:nvPr/>
        </p:nvSpPr>
        <p:spPr>
          <a:xfrm xmlns:a="http://schemas.openxmlformats.org/drawingml/2006/main">
            <a:off x="9124950" y="171450"/>
            <a:ext cx="2876550" cy="5810250"/>
          </a:xfrm>
          <a:prstGeom xmlns:a="http://schemas.openxmlformats.org/drawingml/2006/main" prst="ellipse">
            <a:avLst/>
          </a:prstGeom>
          <a:noFill xmlns:a="http://schemas.openxmlformats.org/drawingml/2006/main"/>
          <a:ln xmlns:a="http://schemas.openxmlformats.org/drawingml/2006/main" w="114300">
            <a:solidFill>
              <a:srgbClr val="ECFBFC"/>
            </a:solidFill>
            <a:prstDash val="solid"/>
          </a:ln>
        </p:spPr>
      </p:sp>
      <p:sp>
        <p:nvSpPr>
          <p:cNvPr id="4" name="logo-mark">
            <a:extLst xmlns:a="http://schemas.openxmlformats.org/drawingml/2006/main">
              <a:ext uri="{FF2B5EF4-FFF2-40B4-BE49-F238E27FC236}">
                <a16:creationId xmlns:a16="http://schemas.microsoft.com/office/drawing/2014/main" id="{E59D17AA-465D-4684-82AC-D45DACAB688F}"/>
              </a:ext>
            </a:extLst>
          </p:cNvPr>
          <p:cNvSpPr>
            <a:spLocks xmlns:a="http://schemas.openxmlformats.org/drawingml/2006/main" noGrp="1"/>
          </p:cNvSpPr>
          <p:nvPr/>
        </p:nvSpPr>
        <p:spPr>
          <a:xfrm xmlns:a="http://schemas.openxmlformats.org/drawingml/2006/main">
            <a:off x="10420350" y="304800"/>
            <a:ext cx="247650" cy="247650"/>
          </a:xfrm>
          <a:prstGeom xmlns:a="http://schemas.openxmlformats.org/drawingml/2006/main" prst="roundRect">
            <a:avLst>
              <a:gd name="adj" fmla="val 46154"/>
            </a:avLst>
          </a:prstGeom>
          <a:solidFill xmlns:a="http://schemas.openxmlformats.org/drawingml/2006/main">
            <a:srgbClr val="7D18C7"/>
          </a:solidFill>
          <a:ln xmlns:a="http://schemas.openxmlformats.org/drawingml/2006/main" w="0">
            <a:noFill/>
            <a:prstDash val="solid"/>
          </a:ln>
        </p:spPr>
      </p:sp>
      <p:sp>
        <p:nvSpPr>
          <p:cNvPr id="5" name="logo-ai">
            <a:extLst xmlns:a="http://schemas.openxmlformats.org/drawingml/2006/main">
              <a:ext uri="{FF2B5EF4-FFF2-40B4-BE49-F238E27FC236}">
                <a16:creationId xmlns:a16="http://schemas.microsoft.com/office/drawing/2014/main" id="{67131E95-3890-4729-963B-255072C21B04}"/>
              </a:ext>
            </a:extLst>
          </p:cNvPr>
          <p:cNvSpPr>
            <a:spLocks xmlns:a="http://schemas.openxmlformats.org/drawingml/2006/main" noGrp="1"/>
          </p:cNvSpPr>
          <p:nvPr/>
        </p:nvSpPr>
        <p:spPr>
          <a:xfrm xmlns:a="http://schemas.openxmlformats.org/drawingml/2006/main">
            <a:off x="10420350" y="314325"/>
            <a:ext cx="247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AI</a:t>
            </a:r>
          </a:p>
        </p:txBody>
      </p:sp>
      <p:sp>
        <p:nvSpPr>
          <p:cNvPr id="6" name="logo-word">
            <a:extLst xmlns:a="http://schemas.openxmlformats.org/drawingml/2006/main">
              <a:ext uri="{FF2B5EF4-FFF2-40B4-BE49-F238E27FC236}">
                <a16:creationId xmlns:a16="http://schemas.microsoft.com/office/drawing/2014/main" id="{F4D17C22-4A5F-4690-A5A0-B21DA5EDC5E8}"/>
              </a:ext>
            </a:extLst>
          </p:cNvPr>
          <p:cNvSpPr>
            <a:spLocks xmlns:a="http://schemas.openxmlformats.org/drawingml/2006/main" noGrp="1"/>
          </p:cNvSpPr>
          <p:nvPr/>
        </p:nvSpPr>
        <p:spPr>
          <a:xfrm xmlns:a="http://schemas.openxmlformats.org/drawingml/2006/main">
            <a:off x="10734675" y="314325"/>
            <a:ext cx="1066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9152E"/>
                </a:solidFill>
              </a:defRPr>
            </a:pPr>
            <a:r>
              <a:rPr sz="1350" b="1">
                <a:solidFill>
                  <a:srgbClr val="19152E"/>
                </a:solidFill>
              </a:rPr>
              <a:t>AI Pioneers</a:t>
            </a:r>
          </a:p>
        </p:txBody>
      </p:sp>
      <p:sp>
        <p:nvSpPr>
          <p:cNvPr id="7" name="footer-rule">
            <a:extLst xmlns:a="http://schemas.openxmlformats.org/drawingml/2006/main">
              <a:ext uri="{FF2B5EF4-FFF2-40B4-BE49-F238E27FC236}">
                <a16:creationId xmlns:a16="http://schemas.microsoft.com/office/drawing/2014/main" id="{656254E9-5786-49A7-9B81-3A6E0E7A733C}"/>
              </a:ext>
            </a:extLst>
          </p:cNvPr>
          <p:cNvSpPr>
            <a:spLocks xmlns:a="http://schemas.openxmlformats.org/drawingml/2006/main" noGrp="1"/>
          </p:cNvSpPr>
          <p:nvPr/>
        </p:nvSpPr>
        <p:spPr>
          <a:xfrm xmlns:a="http://schemas.openxmlformats.org/drawingml/2006/main">
            <a:off x="514350" y="6419850"/>
            <a:ext cx="11163300" cy="9525"/>
          </a:xfrm>
          <a:prstGeom xmlns:a="http://schemas.openxmlformats.org/drawingml/2006/main" prst="line">
            <a:avLst/>
          </a:prstGeom>
          <a:noFill xmlns:a="http://schemas.openxmlformats.org/drawingml/2006/main"/>
          <a:ln xmlns:a="http://schemas.openxmlformats.org/drawingml/2006/main" w="9525">
            <a:solidFill>
              <a:srgbClr val="E8E3EE"/>
            </a:solidFill>
            <a:prstDash val="solid"/>
          </a:ln>
        </p:spPr>
      </p:sp>
      <p:sp>
        <p:nvSpPr>
          <p:cNvPr id="8" name="footer-left">
            <a:extLst xmlns:a="http://schemas.openxmlformats.org/drawingml/2006/main">
              <a:ext uri="{FF2B5EF4-FFF2-40B4-BE49-F238E27FC236}">
                <a16:creationId xmlns:a16="http://schemas.microsoft.com/office/drawing/2014/main" id="{BA47FCB9-D2E7-49E0-A77C-68CC0F508B5D}"/>
              </a:ext>
            </a:extLst>
          </p:cNvPr>
          <p:cNvSpPr>
            <a:spLocks xmlns:a="http://schemas.openxmlformats.org/drawingml/2006/main" noGrp="1"/>
          </p:cNvSpPr>
          <p:nvPr/>
        </p:nvSpPr>
        <p:spPr>
          <a:xfrm xmlns:a="http://schemas.openxmlformats.org/drawingml/2006/main">
            <a:off x="552450" y="653415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1">
                <a:solidFill>
                  <a:srgbClr val="625D73"/>
                </a:solidFill>
              </a:defRPr>
            </a:pPr>
            <a:r>
              <a:rPr sz="750" b="1">
                <a:solidFill>
                  <a:srgbClr val="625D73"/>
                </a:solidFill>
              </a:rPr>
              <a:t>ASSIGNMENT 5  ·  RATE YOUR OWN AGENT</a:t>
            </a:r>
          </a:p>
        </p:txBody>
      </p:sp>
      <p:sp>
        <p:nvSpPr>
          <p:cNvPr id="9" name="footer-right">
            <a:extLst xmlns:a="http://schemas.openxmlformats.org/drawingml/2006/main">
              <a:ext uri="{FF2B5EF4-FFF2-40B4-BE49-F238E27FC236}">
                <a16:creationId xmlns:a16="http://schemas.microsoft.com/office/drawing/2014/main" id="{04580776-39A1-4078-BD97-8014F18B24AB}"/>
              </a:ext>
            </a:extLst>
          </p:cNvPr>
          <p:cNvSpPr>
            <a:spLocks xmlns:a="http://schemas.openxmlformats.org/drawingml/2006/main" noGrp="1"/>
          </p:cNvSpPr>
          <p:nvPr/>
        </p:nvSpPr>
        <p:spPr>
          <a:xfrm xmlns:a="http://schemas.openxmlformats.org/drawingml/2006/main">
            <a:off x="9620250" y="6534150"/>
            <a:ext cx="20478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a:solidFill>
                  <a:srgbClr val="625D73"/>
                </a:solidFill>
              </a:defRPr>
            </a:pPr>
            <a:r>
              <a:rPr sz="750" b="1">
                <a:solidFill>
                  <a:srgbClr val="625D73"/>
                </a:solidFill>
              </a:rPr>
              <a:t>AI Pioneers  ·  TUM     1</a:t>
            </a:r>
          </a:p>
        </p:txBody>
      </p:sp>
      <p:sp>
        <p:nvSpPr>
          <p:cNvPr id="10" name="eyebrow">
            <a:extLst xmlns:a="http://schemas.openxmlformats.org/drawingml/2006/main">
              <a:ext uri="{FF2B5EF4-FFF2-40B4-BE49-F238E27FC236}">
                <a16:creationId xmlns:a16="http://schemas.microsoft.com/office/drawing/2014/main" id="{9D36341A-5063-426D-9436-AD8EFB4B42B6}"/>
              </a:ext>
            </a:extLst>
          </p:cNvPr>
          <p:cNvSpPr>
            <a:spLocks xmlns:a="http://schemas.openxmlformats.org/drawingml/2006/main" noGrp="1"/>
          </p:cNvSpPr>
          <p:nvPr/>
        </p:nvSpPr>
        <p:spPr>
          <a:xfrm xmlns:a="http://schemas.openxmlformats.org/drawingml/2006/main">
            <a:off x="552450" y="3619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088D96"/>
                </a:solidFill>
              </a:defRPr>
            </a:pPr>
            <a:r>
              <a:rPr sz="975" b="1">
                <a:solidFill>
                  <a:srgbClr val="088D96"/>
                </a:solidFill>
              </a:rPr>
              <a:t>HIRING AGENT  ·  AUTONOMY ASSESSMENT</a:t>
            </a:r>
          </a:p>
        </p:txBody>
      </p:sp>
      <p:sp>
        <p:nvSpPr>
          <p:cNvPr id="11" name="title">
            <a:extLst xmlns:a="http://schemas.openxmlformats.org/drawingml/2006/main">
              <a:ext uri="{FF2B5EF4-FFF2-40B4-BE49-F238E27FC236}">
                <a16:creationId xmlns:a16="http://schemas.microsoft.com/office/drawing/2014/main" id="{2AD02C52-F272-404B-B73E-F73336BEF8D1}"/>
              </a:ext>
            </a:extLst>
          </p:cNvPr>
          <p:cNvSpPr>
            <a:spLocks xmlns:a="http://schemas.openxmlformats.org/drawingml/2006/main" noGrp="1"/>
          </p:cNvSpPr>
          <p:nvPr/>
        </p:nvSpPr>
        <p:spPr>
          <a:xfrm xmlns:a="http://schemas.openxmlformats.org/drawingml/2006/main">
            <a:off x="552450" y="685800"/>
            <a:ext cx="857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9152E"/>
                </a:solidFill>
              </a:defRPr>
            </a:pPr>
            <a:r>
              <a:rPr sz="2850" b="1">
                <a:solidFill>
                  <a:srgbClr val="19152E"/>
                </a:solidFill>
              </a:rPr>
              <a:t>The workflow qualifies as a multi-step agent</a:t>
            </a:r>
          </a:p>
        </p:txBody>
      </p:sp>
      <p:sp>
        <p:nvSpPr>
          <p:cNvPr id="12" name="subtitle">
            <a:extLst xmlns:a="http://schemas.openxmlformats.org/drawingml/2006/main">
              <a:ext uri="{FF2B5EF4-FFF2-40B4-BE49-F238E27FC236}">
                <a16:creationId xmlns:a16="http://schemas.microsoft.com/office/drawing/2014/main" id="{78D396C9-7530-4C87-9CEA-3D1A84B4267D}"/>
              </a:ext>
            </a:extLst>
          </p:cNvPr>
          <p:cNvSpPr>
            <a:spLocks xmlns:a="http://schemas.openxmlformats.org/drawingml/2006/main" noGrp="1"/>
          </p:cNvSpPr>
          <p:nvPr/>
        </p:nvSpPr>
        <p:spPr>
          <a:xfrm xmlns:a="http://schemas.openxmlformats.org/drawingml/2006/main">
            <a:off x="552450" y="1209675"/>
            <a:ext cx="971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625D73"/>
                </a:solidFill>
              </a:defRPr>
            </a:pPr>
            <a:r>
              <a:rPr sz="1350" b="0">
                <a:solidFill>
                  <a:srgbClr val="625D73"/>
                </a:solidFill>
              </a:rPr>
              <a:t>It plans, acts, observes and revises across a persisted run—while one coordinator still owns the full plan.</a:t>
            </a:r>
          </a:p>
        </p:txBody>
      </p:sp>
      <p:sp>
        <p:nvSpPr>
          <p:cNvPr id="13" name="spectrum-line">
            <a:extLst xmlns:a="http://schemas.openxmlformats.org/drawingml/2006/main">
              <a:ext uri="{FF2B5EF4-FFF2-40B4-BE49-F238E27FC236}">
                <a16:creationId xmlns:a16="http://schemas.microsoft.com/office/drawing/2014/main" id="{8BD836EB-9B54-4C17-A19F-429899908D2C}"/>
              </a:ext>
            </a:extLst>
          </p:cNvPr>
          <p:cNvSpPr>
            <a:spLocks xmlns:a="http://schemas.openxmlformats.org/drawingml/2006/main" noGrp="1"/>
          </p:cNvSpPr>
          <p:nvPr/>
        </p:nvSpPr>
        <p:spPr>
          <a:xfrm xmlns:a="http://schemas.openxmlformats.org/drawingml/2006/main">
            <a:off x="1066800" y="2333625"/>
            <a:ext cx="10020300" cy="9525"/>
          </a:xfrm>
          <a:prstGeom xmlns:a="http://schemas.openxmlformats.org/drawingml/2006/main" prst="line">
            <a:avLst/>
          </a:prstGeom>
          <a:noFill xmlns:a="http://schemas.openxmlformats.org/drawingml/2006/main"/>
          <a:ln xmlns:a="http://schemas.openxmlformats.org/drawingml/2006/main" w="28575">
            <a:solidFill>
              <a:srgbClr val="C7D5DB"/>
            </a:solidFill>
            <a:prstDash val="solid"/>
          </a:ln>
        </p:spPr>
      </p:sp>
      <p:sp>
        <p:nvSpPr>
          <p:cNvPr id="14" name="stage-0">
            <a:extLst xmlns:a="http://schemas.openxmlformats.org/drawingml/2006/main">
              <a:ext uri="{FF2B5EF4-FFF2-40B4-BE49-F238E27FC236}">
                <a16:creationId xmlns:a16="http://schemas.microsoft.com/office/drawing/2014/main" id="{0D904B0F-D9F7-442A-9055-8E116B10B6C3}"/>
              </a:ext>
            </a:extLst>
          </p:cNvPr>
          <p:cNvSpPr>
            <a:spLocks xmlns:a="http://schemas.openxmlformats.org/drawingml/2006/main" noGrp="1"/>
          </p:cNvSpPr>
          <p:nvPr/>
        </p:nvSpPr>
        <p:spPr>
          <a:xfrm xmlns:a="http://schemas.openxmlformats.org/drawingml/2006/main">
            <a:off x="733425" y="1933575"/>
            <a:ext cx="1104900" cy="8001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14288">
            <a:solidFill>
              <a:srgbClr val="C9D6DC"/>
            </a:solidFill>
            <a:prstDash val="solid"/>
          </a:ln>
        </p:spPr>
      </p:sp>
      <p:sp>
        <p:nvSpPr>
          <p:cNvPr id="15" name="stage-label-0">
            <a:extLst xmlns:a="http://schemas.openxmlformats.org/drawingml/2006/main">
              <a:ext uri="{FF2B5EF4-FFF2-40B4-BE49-F238E27FC236}">
                <a16:creationId xmlns:a16="http://schemas.microsoft.com/office/drawing/2014/main" id="{81DD3C00-D2A9-430C-8225-F5598EC36E5F}"/>
              </a:ext>
            </a:extLst>
          </p:cNvPr>
          <p:cNvSpPr>
            <a:spLocks xmlns:a="http://schemas.openxmlformats.org/drawingml/2006/main" noGrp="1"/>
          </p:cNvSpPr>
          <p:nvPr/>
        </p:nvSpPr>
        <p:spPr>
          <a:xfrm xmlns:a="http://schemas.openxmlformats.org/drawingml/2006/main">
            <a:off x="809625" y="2095500"/>
            <a:ext cx="95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19152E"/>
                </a:solidFill>
              </a:defRPr>
            </a:pPr>
            <a:r>
              <a:rPr sz="1050" b="1">
                <a:solidFill>
                  <a:srgbClr val="19152E"/>
                </a:solidFill>
              </a:rPr>
              <a:t>Fixed</a:t>
            </a:r>
          </a:p>
          <a:p xmlns:a="http://schemas.openxmlformats.org/drawingml/2006/main">
            <a:pPr algn="ctr">
              <a:defRPr sz="1050" b="1">
                <a:solidFill>
                  <a:srgbClr val="19152E"/>
                </a:solidFill>
              </a:defRPr>
            </a:pPr>
            <a:r>
              <a:rPr sz="1050" b="1">
                <a:solidFill>
                  <a:srgbClr val="19152E"/>
                </a:solidFill>
              </a:rPr>
              <a:t>workflow</a:t>
            </a:r>
          </a:p>
        </p:txBody>
      </p:sp>
      <p:sp>
        <p:nvSpPr>
          <p:cNvPr id="16" name="stage-1">
            <a:extLst xmlns:a="http://schemas.openxmlformats.org/drawingml/2006/main">
              <a:ext uri="{FF2B5EF4-FFF2-40B4-BE49-F238E27FC236}">
                <a16:creationId xmlns:a16="http://schemas.microsoft.com/office/drawing/2014/main" id="{8BDD9C0C-AAD2-44D7-9983-B51A83B36909}"/>
              </a:ext>
            </a:extLst>
          </p:cNvPr>
          <p:cNvSpPr>
            <a:spLocks xmlns:a="http://schemas.openxmlformats.org/drawingml/2006/main" noGrp="1"/>
          </p:cNvSpPr>
          <p:nvPr/>
        </p:nvSpPr>
        <p:spPr>
          <a:xfrm xmlns:a="http://schemas.openxmlformats.org/drawingml/2006/main">
            <a:off x="2876550" y="1933575"/>
            <a:ext cx="1104900" cy="8001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14288">
            <a:solidFill>
              <a:srgbClr val="C9D6DC"/>
            </a:solidFill>
            <a:prstDash val="solid"/>
          </a:ln>
        </p:spPr>
      </p:sp>
      <p:sp>
        <p:nvSpPr>
          <p:cNvPr id="17" name="stage-label-1">
            <a:extLst xmlns:a="http://schemas.openxmlformats.org/drawingml/2006/main">
              <a:ext uri="{FF2B5EF4-FFF2-40B4-BE49-F238E27FC236}">
                <a16:creationId xmlns:a16="http://schemas.microsoft.com/office/drawing/2014/main" id="{F5B7EC7C-9331-4C14-AC69-920CCC9D949B}"/>
              </a:ext>
            </a:extLst>
          </p:cNvPr>
          <p:cNvSpPr>
            <a:spLocks xmlns:a="http://schemas.openxmlformats.org/drawingml/2006/main" noGrp="1"/>
          </p:cNvSpPr>
          <p:nvPr/>
        </p:nvSpPr>
        <p:spPr>
          <a:xfrm xmlns:a="http://schemas.openxmlformats.org/drawingml/2006/main">
            <a:off x="2952750" y="2095500"/>
            <a:ext cx="95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19152E"/>
                </a:solidFill>
              </a:defRPr>
            </a:pPr>
            <a:r>
              <a:rPr sz="1050" b="1">
                <a:solidFill>
                  <a:srgbClr val="19152E"/>
                </a:solidFill>
              </a:rPr>
              <a:t>Routing</a:t>
            </a:r>
          </a:p>
        </p:txBody>
      </p:sp>
      <p:sp>
        <p:nvSpPr>
          <p:cNvPr id="18" name="stage-2">
            <a:extLst xmlns:a="http://schemas.openxmlformats.org/drawingml/2006/main">
              <a:ext uri="{FF2B5EF4-FFF2-40B4-BE49-F238E27FC236}">
                <a16:creationId xmlns:a16="http://schemas.microsoft.com/office/drawing/2014/main" id="{19B536F9-4312-4A7A-9344-BF89657952F8}"/>
              </a:ext>
            </a:extLst>
          </p:cNvPr>
          <p:cNvSpPr>
            <a:spLocks xmlns:a="http://schemas.openxmlformats.org/drawingml/2006/main" noGrp="1"/>
          </p:cNvSpPr>
          <p:nvPr/>
        </p:nvSpPr>
        <p:spPr>
          <a:xfrm xmlns:a="http://schemas.openxmlformats.org/drawingml/2006/main">
            <a:off x="4924425" y="1933575"/>
            <a:ext cx="1104900" cy="8001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14288">
            <a:solidFill>
              <a:srgbClr val="C9D6DC"/>
            </a:solidFill>
            <a:prstDash val="solid"/>
          </a:ln>
        </p:spPr>
      </p:sp>
      <p:sp>
        <p:nvSpPr>
          <p:cNvPr id="19" name="stage-label-2">
            <a:extLst xmlns:a="http://schemas.openxmlformats.org/drawingml/2006/main">
              <a:ext uri="{FF2B5EF4-FFF2-40B4-BE49-F238E27FC236}">
                <a16:creationId xmlns:a16="http://schemas.microsoft.com/office/drawing/2014/main" id="{5A12E3FE-50AD-4473-848D-278F6726D4DC}"/>
              </a:ext>
            </a:extLst>
          </p:cNvPr>
          <p:cNvSpPr>
            <a:spLocks xmlns:a="http://schemas.openxmlformats.org/drawingml/2006/main" noGrp="1"/>
          </p:cNvSpPr>
          <p:nvPr/>
        </p:nvSpPr>
        <p:spPr>
          <a:xfrm xmlns:a="http://schemas.openxmlformats.org/drawingml/2006/main">
            <a:off x="5000625" y="2095500"/>
            <a:ext cx="95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19152E"/>
                </a:solidFill>
              </a:defRPr>
            </a:pPr>
            <a:r>
              <a:rPr sz="1050" b="1">
                <a:solidFill>
                  <a:srgbClr val="19152E"/>
                </a:solidFill>
              </a:rPr>
              <a:t>Tool-calling</a:t>
            </a:r>
          </a:p>
          <a:p xmlns:a="http://schemas.openxmlformats.org/drawingml/2006/main">
            <a:pPr algn="ctr">
              <a:defRPr sz="1050" b="1">
                <a:solidFill>
                  <a:srgbClr val="19152E"/>
                </a:solidFill>
              </a:defRPr>
            </a:pPr>
            <a:r>
              <a:rPr sz="1050" b="1">
                <a:solidFill>
                  <a:srgbClr val="19152E"/>
                </a:solidFill>
              </a:rPr>
              <a:t>loop</a:t>
            </a:r>
          </a:p>
        </p:txBody>
      </p:sp>
      <p:sp>
        <p:nvSpPr>
          <p:cNvPr id="20" name="stage-3">
            <a:extLst xmlns:a="http://schemas.openxmlformats.org/drawingml/2006/main">
              <a:ext uri="{FF2B5EF4-FFF2-40B4-BE49-F238E27FC236}">
                <a16:creationId xmlns:a16="http://schemas.microsoft.com/office/drawing/2014/main" id="{0B75EF6A-4BBF-44B3-9F7E-0A9098E40982}"/>
              </a:ext>
            </a:extLst>
          </p:cNvPr>
          <p:cNvSpPr>
            <a:spLocks xmlns:a="http://schemas.openxmlformats.org/drawingml/2006/main" noGrp="1"/>
          </p:cNvSpPr>
          <p:nvPr/>
        </p:nvSpPr>
        <p:spPr>
          <a:xfrm xmlns:a="http://schemas.openxmlformats.org/drawingml/2006/main">
            <a:off x="7067550" y="1933575"/>
            <a:ext cx="1104900" cy="800100"/>
          </a:xfrm>
          <a:prstGeom xmlns:a="http://schemas.openxmlformats.org/drawingml/2006/main" prst="roundRect">
            <a:avLst>
              <a:gd name="adj" fmla="val 14286"/>
            </a:avLst>
          </a:prstGeom>
          <a:solidFill xmlns:a="http://schemas.openxmlformats.org/drawingml/2006/main">
            <a:srgbClr val="7D18C7"/>
          </a:solidFill>
          <a:ln xmlns:a="http://schemas.openxmlformats.org/drawingml/2006/main" w="0">
            <a:solidFill>
              <a:srgbClr val="7D18C7"/>
            </a:solidFill>
            <a:prstDash val="solid"/>
          </a:ln>
        </p:spPr>
      </p:sp>
      <p:sp>
        <p:nvSpPr>
          <p:cNvPr id="21" name="stage-label-3">
            <a:extLst xmlns:a="http://schemas.openxmlformats.org/drawingml/2006/main">
              <a:ext uri="{FF2B5EF4-FFF2-40B4-BE49-F238E27FC236}">
                <a16:creationId xmlns:a16="http://schemas.microsoft.com/office/drawing/2014/main" id="{3CFF5790-49AB-4886-BE5F-BC137307DC25}"/>
              </a:ext>
            </a:extLst>
          </p:cNvPr>
          <p:cNvSpPr>
            <a:spLocks xmlns:a="http://schemas.openxmlformats.org/drawingml/2006/main" noGrp="1"/>
          </p:cNvSpPr>
          <p:nvPr/>
        </p:nvSpPr>
        <p:spPr>
          <a:xfrm xmlns:a="http://schemas.openxmlformats.org/drawingml/2006/main">
            <a:off x="7143750" y="2095500"/>
            <a:ext cx="95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FFFFF"/>
                </a:solidFill>
              </a:defRPr>
            </a:pPr>
            <a:r>
              <a:rPr sz="1200" b="1">
                <a:solidFill>
                  <a:srgbClr val="FFFFFF"/>
                </a:solidFill>
              </a:rPr>
              <a:t>Multi-step</a:t>
            </a:r>
          </a:p>
          <a:p xmlns:a="http://schemas.openxmlformats.org/drawingml/2006/main">
            <a:pPr algn="ctr">
              <a:defRPr sz="1200" b="1">
                <a:solidFill>
                  <a:srgbClr val="FFFFFF"/>
                </a:solidFill>
              </a:defRPr>
            </a:pPr>
            <a:r>
              <a:rPr sz="1200" b="1">
                <a:solidFill>
                  <a:srgbClr val="FFFFFF"/>
                </a:solidFill>
              </a:rPr>
              <a:t>agent</a:t>
            </a:r>
          </a:p>
        </p:txBody>
      </p:sp>
      <p:sp>
        <p:nvSpPr>
          <p:cNvPr id="22" name="current-tag">
            <a:extLst xmlns:a="http://schemas.openxmlformats.org/drawingml/2006/main">
              <a:ext uri="{FF2B5EF4-FFF2-40B4-BE49-F238E27FC236}">
                <a16:creationId xmlns:a16="http://schemas.microsoft.com/office/drawing/2014/main" id="{7DB3EBAC-435A-434F-9A52-DA745EE4EA62}"/>
              </a:ext>
            </a:extLst>
          </p:cNvPr>
          <p:cNvSpPr>
            <a:spLocks xmlns:a="http://schemas.openxmlformats.org/drawingml/2006/main" noGrp="1"/>
          </p:cNvSpPr>
          <p:nvPr/>
        </p:nvSpPr>
        <p:spPr>
          <a:xfrm xmlns:a="http://schemas.openxmlformats.org/drawingml/2006/main">
            <a:off x="7191375" y="1752600"/>
            <a:ext cx="857250" cy="228600"/>
          </a:xfrm>
          <a:prstGeom xmlns:a="http://schemas.openxmlformats.org/drawingml/2006/main" prst="roundRect">
            <a:avLst>
              <a:gd name="adj" fmla="val 50000"/>
            </a:avLst>
          </a:prstGeom>
          <a:solidFill xmlns:a="http://schemas.openxmlformats.org/drawingml/2006/main">
            <a:srgbClr val="20B9BF"/>
          </a:solidFill>
          <a:ln xmlns:a="http://schemas.openxmlformats.org/drawingml/2006/main" w="0">
            <a:noFill/>
            <a:prstDash val="solid"/>
          </a:ln>
        </p:spPr>
      </p:sp>
      <p:sp>
        <p:nvSpPr>
          <p:cNvPr id="23" name="current-text">
            <a:extLst xmlns:a="http://schemas.openxmlformats.org/drawingml/2006/main">
              <a:ext uri="{FF2B5EF4-FFF2-40B4-BE49-F238E27FC236}">
                <a16:creationId xmlns:a16="http://schemas.microsoft.com/office/drawing/2014/main" id="{45FB9DFE-22A6-40E7-883F-B3B304184D87}"/>
              </a:ext>
            </a:extLst>
          </p:cNvPr>
          <p:cNvSpPr>
            <a:spLocks xmlns:a="http://schemas.openxmlformats.org/drawingml/2006/main" noGrp="1"/>
          </p:cNvSpPr>
          <p:nvPr/>
        </p:nvSpPr>
        <p:spPr>
          <a:xfrm xmlns:a="http://schemas.openxmlformats.org/drawingml/2006/main">
            <a:off x="7191375" y="1790700"/>
            <a:ext cx="857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750" b="1">
                <a:solidFill>
                  <a:srgbClr val="FFFFFF"/>
                </a:solidFill>
              </a:defRPr>
            </a:pPr>
            <a:r>
              <a:rPr sz="750" b="1">
                <a:solidFill>
                  <a:srgbClr val="FFFFFF"/>
                </a:solidFill>
              </a:rPr>
              <a:t>CURRENT</a:t>
            </a:r>
          </a:p>
        </p:txBody>
      </p:sp>
      <p:sp>
        <p:nvSpPr>
          <p:cNvPr id="24" name="stage-4">
            <a:extLst xmlns:a="http://schemas.openxmlformats.org/drawingml/2006/main">
              <a:ext uri="{FF2B5EF4-FFF2-40B4-BE49-F238E27FC236}">
                <a16:creationId xmlns:a16="http://schemas.microsoft.com/office/drawing/2014/main" id="{813E1913-3078-49D0-AF7B-558B7F8AFCD8}"/>
              </a:ext>
            </a:extLst>
          </p:cNvPr>
          <p:cNvSpPr>
            <a:spLocks xmlns:a="http://schemas.openxmlformats.org/drawingml/2006/main" noGrp="1"/>
          </p:cNvSpPr>
          <p:nvPr/>
        </p:nvSpPr>
        <p:spPr>
          <a:xfrm xmlns:a="http://schemas.openxmlformats.org/drawingml/2006/main">
            <a:off x="9401175" y="1933575"/>
            <a:ext cx="1104900" cy="8001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14288">
            <a:solidFill>
              <a:srgbClr val="C9D6DC"/>
            </a:solidFill>
            <a:prstDash val="solid"/>
          </a:ln>
        </p:spPr>
      </p:sp>
      <p:sp>
        <p:nvSpPr>
          <p:cNvPr id="25" name="stage-label-4">
            <a:extLst xmlns:a="http://schemas.openxmlformats.org/drawingml/2006/main">
              <a:ext uri="{FF2B5EF4-FFF2-40B4-BE49-F238E27FC236}">
                <a16:creationId xmlns:a16="http://schemas.microsoft.com/office/drawing/2014/main" id="{69A0500D-9DDC-4EED-BFC3-1C8403897A5C}"/>
              </a:ext>
            </a:extLst>
          </p:cNvPr>
          <p:cNvSpPr>
            <a:spLocks xmlns:a="http://schemas.openxmlformats.org/drawingml/2006/main" noGrp="1"/>
          </p:cNvSpPr>
          <p:nvPr/>
        </p:nvSpPr>
        <p:spPr>
          <a:xfrm xmlns:a="http://schemas.openxmlformats.org/drawingml/2006/main">
            <a:off x="9477375" y="2095500"/>
            <a:ext cx="95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19152E"/>
                </a:solidFill>
              </a:defRPr>
            </a:pPr>
            <a:r>
              <a:rPr sz="1050" b="1">
                <a:solidFill>
                  <a:srgbClr val="19152E"/>
                </a:solidFill>
              </a:rPr>
              <a:t>Multi-agent</a:t>
            </a:r>
          </a:p>
          <a:p xmlns:a="http://schemas.openxmlformats.org/drawingml/2006/main">
            <a:pPr algn="ctr">
              <a:defRPr sz="1050" b="1">
                <a:solidFill>
                  <a:srgbClr val="19152E"/>
                </a:solidFill>
              </a:defRPr>
            </a:pPr>
            <a:r>
              <a:rPr sz="1050" b="1">
                <a:solidFill>
                  <a:srgbClr val="19152E"/>
                </a:solidFill>
              </a:rPr>
              <a:t>system</a:t>
            </a:r>
          </a:p>
        </p:txBody>
      </p:sp>
      <p:sp>
        <p:nvSpPr>
          <p:cNvPr id="26" name="why-header">
            <a:extLst xmlns:a="http://schemas.openxmlformats.org/drawingml/2006/main">
              <a:ext uri="{FF2B5EF4-FFF2-40B4-BE49-F238E27FC236}">
                <a16:creationId xmlns:a16="http://schemas.microsoft.com/office/drawing/2014/main" id="{4AD4506F-0A58-489F-B394-26F020C87411}"/>
              </a:ext>
            </a:extLst>
          </p:cNvPr>
          <p:cNvSpPr>
            <a:spLocks xmlns:a="http://schemas.openxmlformats.org/drawingml/2006/main" noGrp="1"/>
          </p:cNvSpPr>
          <p:nvPr/>
        </p:nvSpPr>
        <p:spPr>
          <a:xfrm xmlns:a="http://schemas.openxmlformats.org/drawingml/2006/main">
            <a:off x="552450" y="3133725"/>
            <a:ext cx="2762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88D96"/>
                </a:solidFill>
              </a:defRPr>
            </a:pPr>
            <a:r>
              <a:rPr sz="1125" b="1">
                <a:solidFill>
                  <a:srgbClr val="088D96"/>
                </a:solidFill>
              </a:rPr>
              <a:t>WHY THIS LEVEL</a:t>
            </a:r>
          </a:p>
        </p:txBody>
      </p:sp>
      <p:sp>
        <p:nvSpPr>
          <p:cNvPr id="27" name="why-body">
            <a:extLst xmlns:a="http://schemas.openxmlformats.org/drawingml/2006/main">
              <a:ext uri="{FF2B5EF4-FFF2-40B4-BE49-F238E27FC236}">
                <a16:creationId xmlns:a16="http://schemas.microsoft.com/office/drawing/2014/main" id="{FA96F1EC-AF35-4FFF-A99D-1F5DE64DBC12}"/>
              </a:ext>
            </a:extLst>
          </p:cNvPr>
          <p:cNvSpPr>
            <a:spLocks xmlns:a="http://schemas.openxmlformats.org/drawingml/2006/main" noGrp="1"/>
          </p:cNvSpPr>
          <p:nvPr/>
        </p:nvSpPr>
        <p:spPr>
          <a:xfrm xmlns:a="http://schemas.openxmlformats.org/drawingml/2006/main">
            <a:off x="552450" y="3429000"/>
            <a:ext cx="5953125" cy="1638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19152E"/>
                </a:solidFill>
              </a:defRPr>
            </a:pPr>
            <a:r>
              <a:rPr sz="1275" b="0">
                <a:solidFill>
                  <a:srgbClr val="19152E"/>
                </a:solidFill>
              </a:rPr>
              <a:t>• Nemotron creates a dependency-aware plan.</a:t>
            </a:r>
          </a:p>
          <a:p xmlns:a="http://schemas.openxmlformats.org/drawingml/2006/main">
            <a:pPr algn="l">
              <a:defRPr sz="1275" b="0">
                <a:solidFill>
                  <a:srgbClr val="19152E"/>
                </a:solidFill>
              </a:defRPr>
            </a:pPr>
            <a:r>
              <a:rPr sz="1275" b="0">
                <a:solidFill>
                  <a:srgbClr val="19152E"/>
                </a:solidFill>
              </a:rPr>
              <a:t>• Approved tools verify status/company, score fit and prepare a grounded CV draft.</a:t>
            </a:r>
          </a:p>
          <a:p xmlns:a="http://schemas.openxmlformats.org/drawingml/2006/main">
            <a:pPr algn="l">
              <a:defRPr sz="1275" b="0">
                <a:solidFill>
                  <a:srgbClr val="19152E"/>
                </a:solidFill>
              </a:defRPr>
            </a:pPr>
            <a:r>
              <a:rPr sz="1275" b="0">
                <a:solidFill>
                  <a:srgbClr val="19152E"/>
                </a:solidFill>
              </a:rPr>
              <a:t>• New observations decide whether to continue, stop or escalate.</a:t>
            </a:r>
          </a:p>
          <a:p xmlns:a="http://schemas.openxmlformats.org/drawingml/2006/main">
            <a:pPr algn="l">
              <a:defRPr sz="1275" b="0">
                <a:solidFill>
                  <a:srgbClr val="19152E"/>
                </a:solidFill>
              </a:defRPr>
            </a:pPr>
            <a:r>
              <a:rPr sz="1275" b="0">
                <a:solidFill>
                  <a:srgbClr val="19152E"/>
                </a:solidFill>
              </a:rPr>
              <a:t>• Runs, steps, decisions and checkpoints persist across the process.</a:t>
            </a:r>
          </a:p>
        </p:txBody>
      </p:sp>
      <p:sp>
        <p:nvSpPr>
          <p:cNvPr id="28" name="distinction-bg">
            <a:extLst xmlns:a="http://schemas.openxmlformats.org/drawingml/2006/main">
              <a:ext uri="{FF2B5EF4-FFF2-40B4-BE49-F238E27FC236}">
                <a16:creationId xmlns:a16="http://schemas.microsoft.com/office/drawing/2014/main" id="{782E7A30-A567-4F20-A32F-1DC21067C620}"/>
              </a:ext>
            </a:extLst>
          </p:cNvPr>
          <p:cNvSpPr>
            <a:spLocks xmlns:a="http://schemas.openxmlformats.org/drawingml/2006/main" noGrp="1"/>
          </p:cNvSpPr>
          <p:nvPr/>
        </p:nvSpPr>
        <p:spPr>
          <a:xfrm xmlns:a="http://schemas.openxmlformats.org/drawingml/2006/main">
            <a:off x="6858000" y="3143250"/>
            <a:ext cx="4762500" cy="1924050"/>
          </a:xfrm>
          <a:prstGeom xmlns:a="http://schemas.openxmlformats.org/drawingml/2006/main" prst="roundRect">
            <a:avLst>
              <a:gd name="adj" fmla="val 5941"/>
            </a:avLst>
          </a:prstGeom>
          <a:solidFill xmlns:a="http://schemas.openxmlformats.org/drawingml/2006/main">
            <a:srgbClr val="FBF8FE"/>
          </a:solidFill>
          <a:ln xmlns:a="http://schemas.openxmlformats.org/drawingml/2006/main" w="11430">
            <a:solidFill>
              <a:srgbClr val="E3D6EE"/>
            </a:solidFill>
            <a:prstDash val="solid"/>
          </a:ln>
        </p:spPr>
      </p:sp>
      <p:sp>
        <p:nvSpPr>
          <p:cNvPr id="29" name="distinction-head">
            <a:extLst xmlns:a="http://schemas.openxmlformats.org/drawingml/2006/main">
              <a:ext uri="{FF2B5EF4-FFF2-40B4-BE49-F238E27FC236}">
                <a16:creationId xmlns:a16="http://schemas.microsoft.com/office/drawing/2014/main" id="{C766704B-CF44-47A3-B7FB-14309371C832}"/>
              </a:ext>
            </a:extLst>
          </p:cNvPr>
          <p:cNvSpPr>
            <a:spLocks xmlns:a="http://schemas.openxmlformats.org/drawingml/2006/main" noGrp="1"/>
          </p:cNvSpPr>
          <p:nvPr/>
        </p:nvSpPr>
        <p:spPr>
          <a:xfrm xmlns:a="http://schemas.openxmlformats.org/drawingml/2006/main">
            <a:off x="7162800" y="33718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7D18C7"/>
                </a:solidFill>
              </a:defRPr>
            </a:pPr>
            <a:r>
              <a:rPr sz="1125" b="1">
                <a:solidFill>
                  <a:srgbClr val="7D18C7"/>
                </a:solidFill>
              </a:rPr>
              <a:t>THE DECISION BOUNDARY</a:t>
            </a:r>
          </a:p>
        </p:txBody>
      </p:sp>
      <p:sp>
        <p:nvSpPr>
          <p:cNvPr id="30" name="more-title">
            <a:extLst xmlns:a="http://schemas.openxmlformats.org/drawingml/2006/main">
              <a:ext uri="{FF2B5EF4-FFF2-40B4-BE49-F238E27FC236}">
                <a16:creationId xmlns:a16="http://schemas.microsoft.com/office/drawing/2014/main" id="{18EAA9CB-3A21-49F3-9174-F9CA2414E893}"/>
              </a:ext>
            </a:extLst>
          </p:cNvPr>
          <p:cNvSpPr>
            <a:spLocks xmlns:a="http://schemas.openxmlformats.org/drawingml/2006/main" noGrp="1"/>
          </p:cNvSpPr>
          <p:nvPr/>
        </p:nvSpPr>
        <p:spPr>
          <a:xfrm xmlns:a="http://schemas.openxmlformats.org/drawingml/2006/main">
            <a:off x="7162800" y="3743325"/>
            <a:ext cx="1952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9152E"/>
                </a:solidFill>
              </a:defRPr>
            </a:pPr>
            <a:r>
              <a:rPr sz="1425" b="1">
                <a:solidFill>
                  <a:srgbClr val="19152E"/>
                </a:solidFill>
              </a:rPr>
              <a:t>More than a tool loop</a:t>
            </a:r>
          </a:p>
        </p:txBody>
      </p:sp>
      <p:sp>
        <p:nvSpPr>
          <p:cNvPr id="31" name="more-copy">
            <a:extLst xmlns:a="http://schemas.openxmlformats.org/drawingml/2006/main">
              <a:ext uri="{FF2B5EF4-FFF2-40B4-BE49-F238E27FC236}">
                <a16:creationId xmlns:a16="http://schemas.microsoft.com/office/drawing/2014/main" id="{6E574DB2-C5D0-4119-B2D3-0FFCE661ECB5}"/>
              </a:ext>
            </a:extLst>
          </p:cNvPr>
          <p:cNvSpPr>
            <a:spLocks xmlns:a="http://schemas.openxmlformats.org/drawingml/2006/main" noGrp="1"/>
          </p:cNvSpPr>
          <p:nvPr/>
        </p:nvSpPr>
        <p:spPr>
          <a:xfrm xmlns:a="http://schemas.openxmlformats.org/drawingml/2006/main">
            <a:off x="7162800" y="4029075"/>
            <a:ext cx="19526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625D73"/>
                </a:solidFill>
              </a:defRPr>
            </a:pPr>
            <a:r>
              <a:rPr sz="1125" b="0">
                <a:solidFill>
                  <a:srgbClr val="625D73"/>
                </a:solidFill>
              </a:rPr>
              <a:t>The agent plans dependencies, reflects on results, and can pause/resume across turns.</a:t>
            </a:r>
          </a:p>
        </p:txBody>
      </p:sp>
      <p:sp>
        <p:nvSpPr>
          <p:cNvPr id="32" name="divider">
            <a:extLst xmlns:a="http://schemas.openxmlformats.org/drawingml/2006/main">
              <a:ext uri="{FF2B5EF4-FFF2-40B4-BE49-F238E27FC236}">
                <a16:creationId xmlns:a16="http://schemas.microsoft.com/office/drawing/2014/main" id="{7BA14127-BE82-47DC-A8E6-93B92EEA3065}"/>
              </a:ext>
            </a:extLst>
          </p:cNvPr>
          <p:cNvSpPr>
            <a:spLocks xmlns:a="http://schemas.openxmlformats.org/drawingml/2006/main" noGrp="1"/>
          </p:cNvSpPr>
          <p:nvPr/>
        </p:nvSpPr>
        <p:spPr>
          <a:xfrm xmlns:a="http://schemas.openxmlformats.org/drawingml/2006/main">
            <a:off x="9353550" y="3733800"/>
            <a:ext cx="9525" cy="981075"/>
          </a:xfrm>
          <a:prstGeom xmlns:a="http://schemas.openxmlformats.org/drawingml/2006/main" prst="line">
            <a:avLst/>
          </a:prstGeom>
          <a:noFill xmlns:a="http://schemas.openxmlformats.org/drawingml/2006/main"/>
          <a:ln xmlns:a="http://schemas.openxmlformats.org/drawingml/2006/main" w="9525">
            <a:solidFill>
              <a:srgbClr val="DDD2E7"/>
            </a:solidFill>
            <a:prstDash val="solid"/>
          </a:ln>
        </p:spPr>
      </p:sp>
      <p:sp>
        <p:nvSpPr>
          <p:cNvPr id="33" name="not-title">
            <a:extLst xmlns:a="http://schemas.openxmlformats.org/drawingml/2006/main">
              <a:ext uri="{FF2B5EF4-FFF2-40B4-BE49-F238E27FC236}">
                <a16:creationId xmlns:a16="http://schemas.microsoft.com/office/drawing/2014/main" id="{96C15DE0-26BC-49AD-AD6F-BD5D71016067}"/>
              </a:ext>
            </a:extLst>
          </p:cNvPr>
          <p:cNvSpPr>
            <a:spLocks xmlns:a="http://schemas.openxmlformats.org/drawingml/2006/main" noGrp="1"/>
          </p:cNvSpPr>
          <p:nvPr/>
        </p:nvSpPr>
        <p:spPr>
          <a:xfrm xmlns:a="http://schemas.openxmlformats.org/drawingml/2006/main">
            <a:off x="9591675" y="3743325"/>
            <a:ext cx="1790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9152E"/>
                </a:solidFill>
              </a:defRPr>
            </a:pPr>
            <a:r>
              <a:rPr sz="1425" b="1">
                <a:solidFill>
                  <a:srgbClr val="19152E"/>
                </a:solidFill>
              </a:rPr>
              <a:t>Not yet multi-agent</a:t>
            </a:r>
          </a:p>
        </p:txBody>
      </p:sp>
      <p:sp>
        <p:nvSpPr>
          <p:cNvPr id="34" name="not-copy">
            <a:extLst xmlns:a="http://schemas.openxmlformats.org/drawingml/2006/main">
              <a:ext uri="{FF2B5EF4-FFF2-40B4-BE49-F238E27FC236}">
                <a16:creationId xmlns:a16="http://schemas.microsoft.com/office/drawing/2014/main" id="{99A19E7C-F941-4309-BDEA-DC2D08FB82C0}"/>
              </a:ext>
            </a:extLst>
          </p:cNvPr>
          <p:cNvSpPr>
            <a:spLocks xmlns:a="http://schemas.openxmlformats.org/drawingml/2006/main" noGrp="1"/>
          </p:cNvSpPr>
          <p:nvPr/>
        </p:nvSpPr>
        <p:spPr>
          <a:xfrm xmlns:a="http://schemas.openxmlformats.org/drawingml/2006/main">
            <a:off x="9591675" y="4029075"/>
            <a:ext cx="1790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625D73"/>
                </a:solidFill>
              </a:defRPr>
            </a:pPr>
            <a:r>
              <a:rPr sz="1125" b="0">
                <a:solidFill>
                  <a:srgbClr val="625D73"/>
                </a:solidFill>
              </a:rPr>
              <a:t>One coordinator owns the complete plan; tools do not delegate work to one another.</a:t>
            </a:r>
          </a:p>
        </p:txBody>
      </p:sp>
      <p:sp>
        <p:nvSpPr>
          <p:cNvPr id="35" name="next-bg">
            <a:extLst xmlns:a="http://schemas.openxmlformats.org/drawingml/2006/main">
              <a:ext uri="{FF2B5EF4-FFF2-40B4-BE49-F238E27FC236}">
                <a16:creationId xmlns:a16="http://schemas.microsoft.com/office/drawing/2014/main" id="{9FC4BFDA-2A8B-4DAA-BA5F-B44BDCB161B2}"/>
              </a:ext>
            </a:extLst>
          </p:cNvPr>
          <p:cNvSpPr>
            <a:spLocks xmlns:a="http://schemas.openxmlformats.org/drawingml/2006/main" noGrp="1"/>
          </p:cNvSpPr>
          <p:nvPr/>
        </p:nvSpPr>
        <p:spPr>
          <a:xfrm xmlns:a="http://schemas.openxmlformats.org/drawingml/2006/main">
            <a:off x="552450" y="5324475"/>
            <a:ext cx="11068050" cy="742950"/>
          </a:xfrm>
          <a:prstGeom xmlns:a="http://schemas.openxmlformats.org/drawingml/2006/main" prst="roundRect">
            <a:avLst>
              <a:gd name="adj" fmla="val 15385"/>
            </a:avLst>
          </a:prstGeom>
          <a:solidFill xmlns:a="http://schemas.openxmlformats.org/drawingml/2006/main">
            <a:srgbClr val="19152E"/>
          </a:solidFill>
          <a:ln xmlns:a="http://schemas.openxmlformats.org/drawingml/2006/main" w="0">
            <a:noFill/>
            <a:prstDash val="solid"/>
          </a:ln>
        </p:spPr>
      </p:sp>
      <p:sp>
        <p:nvSpPr>
          <p:cNvPr id="36" name="next-label">
            <a:extLst xmlns:a="http://schemas.openxmlformats.org/drawingml/2006/main">
              <a:ext uri="{FF2B5EF4-FFF2-40B4-BE49-F238E27FC236}">
                <a16:creationId xmlns:a16="http://schemas.microsoft.com/office/drawing/2014/main" id="{D317C199-3576-478C-A984-DF74AA13F831}"/>
              </a:ext>
            </a:extLst>
          </p:cNvPr>
          <p:cNvSpPr>
            <a:spLocks xmlns:a="http://schemas.openxmlformats.org/drawingml/2006/main" noGrp="1"/>
          </p:cNvSpPr>
          <p:nvPr/>
        </p:nvSpPr>
        <p:spPr>
          <a:xfrm xmlns:a="http://schemas.openxmlformats.org/drawingml/2006/main">
            <a:off x="781050" y="5505450"/>
            <a:ext cx="1762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20B9BF"/>
                </a:solidFill>
              </a:defRPr>
            </a:pPr>
            <a:r>
              <a:rPr sz="900" b="1">
                <a:solidFill>
                  <a:srgbClr val="20B9BF"/>
                </a:solidFill>
              </a:rPr>
              <a:t>ONE STEP FURTHER</a:t>
            </a:r>
          </a:p>
        </p:txBody>
      </p:sp>
      <p:sp>
        <p:nvSpPr>
          <p:cNvPr id="37" name="next-copy">
            <a:extLst xmlns:a="http://schemas.openxmlformats.org/drawingml/2006/main">
              <a:ext uri="{FF2B5EF4-FFF2-40B4-BE49-F238E27FC236}">
                <a16:creationId xmlns:a16="http://schemas.microsoft.com/office/drawing/2014/main" id="{2A05D5ED-8608-4BF6-8E06-7B18CC0EF65F}"/>
              </a:ext>
            </a:extLst>
          </p:cNvPr>
          <p:cNvSpPr>
            <a:spLocks xmlns:a="http://schemas.openxmlformats.org/drawingml/2006/main" noGrp="1"/>
          </p:cNvSpPr>
          <p:nvPr/>
        </p:nvSpPr>
        <p:spPr>
          <a:xfrm xmlns:a="http://schemas.openxmlformats.org/drawingml/2006/main">
            <a:off x="2571750" y="5429250"/>
            <a:ext cx="8715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FFFF"/>
                </a:solidFill>
              </a:defRPr>
            </a:pPr>
            <a:r>
              <a:rPr sz="1350" b="1">
                <a:solidFill>
                  <a:srgbClr val="FFFFFF"/>
                </a:solidFill>
              </a:rPr>
              <a:t>Independent Discovery, Evaluation, CV and Safety agents would delegate evidence to a coordinating agent.</a:t>
            </a:r>
          </a:p>
        </p:txBody>
      </p:sp>
    </p:spTree>
    <p:extLst>
      <p:ext uri="{BB962C8B-B14F-4D97-AF65-F5344CB8AC3E}">
        <p14:creationId xmlns:p14="http://schemas.microsoft.com/office/powerpoint/2010/main" val="48606223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8" name="lavender-wash">
            <a:extLst xmlns:a="http://schemas.openxmlformats.org/drawingml/2006/main">
              <a:ext uri="{FF2B5EF4-FFF2-40B4-BE49-F238E27FC236}">
                <a16:creationId xmlns:a16="http://schemas.microsoft.com/office/drawing/2014/main" id="{37D6B0BE-0160-4A9B-B96D-9D8DD12F0B36}"/>
              </a:ext>
            </a:extLst>
          </p:cNvPr>
          <p:cNvSpPr>
            <a:spLocks xmlns:a="http://schemas.openxmlformats.org/drawingml/2006/main" noGrp="1"/>
          </p:cNvSpPr>
          <p:nvPr/>
        </p:nvSpPr>
        <p:spPr>
          <a:xfrm xmlns:a="http://schemas.openxmlformats.org/drawingml/2006/main">
            <a:off x="0" y="0"/>
            <a:ext cx="2143125" cy="6858000"/>
          </a:xfrm>
          <a:prstGeom xmlns:a="http://schemas.openxmlformats.org/drawingml/2006/main" prst="roundRect">
            <a:avLst>
              <a:gd name="adj" fmla="val 5333"/>
            </a:avLst>
          </a:prstGeom>
          <a:solidFill xmlns:a="http://schemas.openxmlformats.org/drawingml/2006/main">
            <a:srgbClr val="F7E9FF"/>
          </a:solidFill>
          <a:ln xmlns:a="http://schemas.openxmlformats.org/drawingml/2006/main" w="0">
            <a:noFill/>
            <a:prstDash val="solid"/>
          </a:ln>
        </p:spPr>
      </p:sp>
      <p:sp>
        <p:nvSpPr>
          <p:cNvPr id="2" name="cyan-arc-1">
            <a:extLst xmlns:a="http://schemas.openxmlformats.org/drawingml/2006/main">
              <a:ext uri="{FF2B5EF4-FFF2-40B4-BE49-F238E27FC236}">
                <a16:creationId xmlns:a16="http://schemas.microsoft.com/office/drawing/2014/main" id="{8EE561FB-BC57-4AB4-9C41-E5593C0D5FA2}"/>
              </a:ext>
            </a:extLst>
          </p:cNvPr>
          <p:cNvSpPr>
            <a:spLocks xmlns:a="http://schemas.openxmlformats.org/drawingml/2006/main" noGrp="1"/>
          </p:cNvSpPr>
          <p:nvPr/>
        </p:nvSpPr>
        <p:spPr>
          <a:xfrm xmlns:a="http://schemas.openxmlformats.org/drawingml/2006/main">
            <a:off x="8572500" y="38100"/>
            <a:ext cx="3524250" cy="6172200"/>
          </a:xfrm>
          <a:prstGeom xmlns:a="http://schemas.openxmlformats.org/drawingml/2006/main" prst="ellipse">
            <a:avLst/>
          </a:prstGeom>
          <a:noFill xmlns:a="http://schemas.openxmlformats.org/drawingml/2006/main"/>
          <a:ln xmlns:a="http://schemas.openxmlformats.org/drawingml/2006/main" w="171450">
            <a:solidFill>
              <a:srgbClr val="DDF7F8"/>
            </a:solidFill>
            <a:prstDash val="solid"/>
          </a:ln>
        </p:spPr>
      </p:sp>
      <p:sp>
        <p:nvSpPr>
          <p:cNvPr id="3" name="cyan-arc-2">
            <a:extLst xmlns:a="http://schemas.openxmlformats.org/drawingml/2006/main">
              <a:ext uri="{FF2B5EF4-FFF2-40B4-BE49-F238E27FC236}">
                <a16:creationId xmlns:a16="http://schemas.microsoft.com/office/drawing/2014/main" id="{A3153E8A-0B1A-4D54-93C5-3EC535CC79A5}"/>
              </a:ext>
            </a:extLst>
          </p:cNvPr>
          <p:cNvSpPr>
            <a:spLocks xmlns:a="http://schemas.openxmlformats.org/drawingml/2006/main" noGrp="1"/>
          </p:cNvSpPr>
          <p:nvPr/>
        </p:nvSpPr>
        <p:spPr>
          <a:xfrm xmlns:a="http://schemas.openxmlformats.org/drawingml/2006/main">
            <a:off x="9124950" y="171450"/>
            <a:ext cx="2876550" cy="5810250"/>
          </a:xfrm>
          <a:prstGeom xmlns:a="http://schemas.openxmlformats.org/drawingml/2006/main" prst="ellipse">
            <a:avLst/>
          </a:prstGeom>
          <a:noFill xmlns:a="http://schemas.openxmlformats.org/drawingml/2006/main"/>
          <a:ln xmlns:a="http://schemas.openxmlformats.org/drawingml/2006/main" w="114300">
            <a:solidFill>
              <a:srgbClr val="ECFBFC"/>
            </a:solidFill>
            <a:prstDash val="solid"/>
          </a:ln>
        </p:spPr>
      </p:sp>
      <p:sp>
        <p:nvSpPr>
          <p:cNvPr id="4" name="logo-mark">
            <a:extLst xmlns:a="http://schemas.openxmlformats.org/drawingml/2006/main">
              <a:ext uri="{FF2B5EF4-FFF2-40B4-BE49-F238E27FC236}">
                <a16:creationId xmlns:a16="http://schemas.microsoft.com/office/drawing/2014/main" id="{F677D701-153F-43E9-A73E-F0947A769910}"/>
              </a:ext>
            </a:extLst>
          </p:cNvPr>
          <p:cNvSpPr>
            <a:spLocks xmlns:a="http://schemas.openxmlformats.org/drawingml/2006/main" noGrp="1"/>
          </p:cNvSpPr>
          <p:nvPr/>
        </p:nvSpPr>
        <p:spPr>
          <a:xfrm xmlns:a="http://schemas.openxmlformats.org/drawingml/2006/main">
            <a:off x="10420350" y="304800"/>
            <a:ext cx="247650" cy="247650"/>
          </a:xfrm>
          <a:prstGeom xmlns:a="http://schemas.openxmlformats.org/drawingml/2006/main" prst="roundRect">
            <a:avLst>
              <a:gd name="adj" fmla="val 46154"/>
            </a:avLst>
          </a:prstGeom>
          <a:solidFill xmlns:a="http://schemas.openxmlformats.org/drawingml/2006/main">
            <a:srgbClr val="7D18C7"/>
          </a:solidFill>
          <a:ln xmlns:a="http://schemas.openxmlformats.org/drawingml/2006/main" w="0">
            <a:noFill/>
            <a:prstDash val="solid"/>
          </a:ln>
        </p:spPr>
      </p:sp>
      <p:sp>
        <p:nvSpPr>
          <p:cNvPr id="5" name="logo-ai">
            <a:extLst xmlns:a="http://schemas.openxmlformats.org/drawingml/2006/main">
              <a:ext uri="{FF2B5EF4-FFF2-40B4-BE49-F238E27FC236}">
                <a16:creationId xmlns:a16="http://schemas.microsoft.com/office/drawing/2014/main" id="{1CB6E6F7-5CFE-4537-97C6-A303383FB1AA}"/>
              </a:ext>
            </a:extLst>
          </p:cNvPr>
          <p:cNvSpPr>
            <a:spLocks xmlns:a="http://schemas.openxmlformats.org/drawingml/2006/main" noGrp="1"/>
          </p:cNvSpPr>
          <p:nvPr/>
        </p:nvSpPr>
        <p:spPr>
          <a:xfrm xmlns:a="http://schemas.openxmlformats.org/drawingml/2006/main">
            <a:off x="10420350" y="314325"/>
            <a:ext cx="247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AI</a:t>
            </a:r>
          </a:p>
        </p:txBody>
      </p:sp>
      <p:sp>
        <p:nvSpPr>
          <p:cNvPr id="6" name="logo-word">
            <a:extLst xmlns:a="http://schemas.openxmlformats.org/drawingml/2006/main">
              <a:ext uri="{FF2B5EF4-FFF2-40B4-BE49-F238E27FC236}">
                <a16:creationId xmlns:a16="http://schemas.microsoft.com/office/drawing/2014/main" id="{DA6534E0-ABAE-4FC3-85A9-A21F5FF71571}"/>
              </a:ext>
            </a:extLst>
          </p:cNvPr>
          <p:cNvSpPr>
            <a:spLocks xmlns:a="http://schemas.openxmlformats.org/drawingml/2006/main" noGrp="1"/>
          </p:cNvSpPr>
          <p:nvPr/>
        </p:nvSpPr>
        <p:spPr>
          <a:xfrm xmlns:a="http://schemas.openxmlformats.org/drawingml/2006/main">
            <a:off x="10734675" y="314325"/>
            <a:ext cx="1066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9152E"/>
                </a:solidFill>
              </a:defRPr>
            </a:pPr>
            <a:r>
              <a:rPr sz="1350" b="1">
                <a:solidFill>
                  <a:srgbClr val="19152E"/>
                </a:solidFill>
              </a:rPr>
              <a:t>AI Pioneers</a:t>
            </a:r>
          </a:p>
        </p:txBody>
      </p:sp>
      <p:sp>
        <p:nvSpPr>
          <p:cNvPr id="7" name="footer-rule">
            <a:extLst xmlns:a="http://schemas.openxmlformats.org/drawingml/2006/main">
              <a:ext uri="{FF2B5EF4-FFF2-40B4-BE49-F238E27FC236}">
                <a16:creationId xmlns:a16="http://schemas.microsoft.com/office/drawing/2014/main" id="{F939BE9F-F5AE-4547-9A0C-8FBF6E820D8A}"/>
              </a:ext>
            </a:extLst>
          </p:cNvPr>
          <p:cNvSpPr>
            <a:spLocks xmlns:a="http://schemas.openxmlformats.org/drawingml/2006/main" noGrp="1"/>
          </p:cNvSpPr>
          <p:nvPr/>
        </p:nvSpPr>
        <p:spPr>
          <a:xfrm xmlns:a="http://schemas.openxmlformats.org/drawingml/2006/main">
            <a:off x="514350" y="6419850"/>
            <a:ext cx="11163300" cy="9525"/>
          </a:xfrm>
          <a:prstGeom xmlns:a="http://schemas.openxmlformats.org/drawingml/2006/main" prst="line">
            <a:avLst/>
          </a:prstGeom>
          <a:noFill xmlns:a="http://schemas.openxmlformats.org/drawingml/2006/main"/>
          <a:ln xmlns:a="http://schemas.openxmlformats.org/drawingml/2006/main" w="9525">
            <a:solidFill>
              <a:srgbClr val="E8E3EE"/>
            </a:solidFill>
            <a:prstDash val="solid"/>
          </a:ln>
        </p:spPr>
      </p:sp>
      <p:sp>
        <p:nvSpPr>
          <p:cNvPr id="8" name="footer-left">
            <a:extLst xmlns:a="http://schemas.openxmlformats.org/drawingml/2006/main">
              <a:ext uri="{FF2B5EF4-FFF2-40B4-BE49-F238E27FC236}">
                <a16:creationId xmlns:a16="http://schemas.microsoft.com/office/drawing/2014/main" id="{37B0AA0F-BE48-493C-86FC-29C42631FB6B}"/>
              </a:ext>
            </a:extLst>
          </p:cNvPr>
          <p:cNvSpPr>
            <a:spLocks xmlns:a="http://schemas.openxmlformats.org/drawingml/2006/main" noGrp="1"/>
          </p:cNvSpPr>
          <p:nvPr/>
        </p:nvSpPr>
        <p:spPr>
          <a:xfrm xmlns:a="http://schemas.openxmlformats.org/drawingml/2006/main">
            <a:off x="552450" y="653415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1">
                <a:solidFill>
                  <a:srgbClr val="625D73"/>
                </a:solidFill>
              </a:defRPr>
            </a:pPr>
            <a:r>
              <a:rPr sz="750" b="1">
                <a:solidFill>
                  <a:srgbClr val="625D73"/>
                </a:solidFill>
              </a:rPr>
              <a:t>ASSIGNMENT 5  ·  ADD A CHECKPOINT</a:t>
            </a:r>
          </a:p>
        </p:txBody>
      </p:sp>
      <p:sp>
        <p:nvSpPr>
          <p:cNvPr id="9" name="footer-right">
            <a:extLst xmlns:a="http://schemas.openxmlformats.org/drawingml/2006/main">
              <a:ext uri="{FF2B5EF4-FFF2-40B4-BE49-F238E27FC236}">
                <a16:creationId xmlns:a16="http://schemas.microsoft.com/office/drawing/2014/main" id="{091EC924-4042-4EF1-B2A1-2775252421F2}"/>
              </a:ext>
            </a:extLst>
          </p:cNvPr>
          <p:cNvSpPr>
            <a:spLocks xmlns:a="http://schemas.openxmlformats.org/drawingml/2006/main" noGrp="1"/>
          </p:cNvSpPr>
          <p:nvPr/>
        </p:nvSpPr>
        <p:spPr>
          <a:xfrm xmlns:a="http://schemas.openxmlformats.org/drawingml/2006/main">
            <a:off x="9620250" y="6534150"/>
            <a:ext cx="20478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a:solidFill>
                  <a:srgbClr val="625D73"/>
                </a:solidFill>
              </a:defRPr>
            </a:pPr>
            <a:r>
              <a:rPr sz="750" b="1">
                <a:solidFill>
                  <a:srgbClr val="625D73"/>
                </a:solidFill>
              </a:rPr>
              <a:t>AI Pioneers  ·  TUM     2</a:t>
            </a:r>
          </a:p>
        </p:txBody>
      </p:sp>
      <p:sp>
        <p:nvSpPr>
          <p:cNvPr id="10" name="eyebrow">
            <a:extLst xmlns:a="http://schemas.openxmlformats.org/drawingml/2006/main">
              <a:ext uri="{FF2B5EF4-FFF2-40B4-BE49-F238E27FC236}">
                <a16:creationId xmlns:a16="http://schemas.microsoft.com/office/drawing/2014/main" id="{5D07E17A-9189-4FB1-9B0B-7D068E32AE1A}"/>
              </a:ext>
            </a:extLst>
          </p:cNvPr>
          <p:cNvSpPr>
            <a:spLocks xmlns:a="http://schemas.openxmlformats.org/drawingml/2006/main" noGrp="1"/>
          </p:cNvSpPr>
          <p:nvPr/>
        </p:nvSpPr>
        <p:spPr>
          <a:xfrm xmlns:a="http://schemas.openxmlformats.org/drawingml/2006/main">
            <a:off x="552450" y="36195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088D96"/>
                </a:solidFill>
              </a:defRPr>
            </a:pPr>
            <a:r>
              <a:rPr sz="975" b="1">
                <a:solidFill>
                  <a:srgbClr val="088D96"/>
                </a:solidFill>
              </a:rPr>
              <a:t>HUMAN-IN-THE-LOOP  ·  DRAFT-THEN-SEND GATE</a:t>
            </a:r>
          </a:p>
        </p:txBody>
      </p:sp>
      <p:sp>
        <p:nvSpPr>
          <p:cNvPr id="11" name="title">
            <a:extLst xmlns:a="http://schemas.openxmlformats.org/drawingml/2006/main">
              <a:ext uri="{FF2B5EF4-FFF2-40B4-BE49-F238E27FC236}">
                <a16:creationId xmlns:a16="http://schemas.microsoft.com/office/drawing/2014/main" id="{153CD7F6-696F-46A4-A660-B035FD629D88}"/>
              </a:ext>
            </a:extLst>
          </p:cNvPr>
          <p:cNvSpPr>
            <a:spLocks xmlns:a="http://schemas.openxmlformats.org/drawingml/2006/main" noGrp="1"/>
          </p:cNvSpPr>
          <p:nvPr/>
        </p:nvSpPr>
        <p:spPr>
          <a:xfrm xmlns:a="http://schemas.openxmlformats.org/drawingml/2006/main">
            <a:off x="552450" y="685800"/>
            <a:ext cx="914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9152E"/>
                </a:solidFill>
              </a:defRPr>
            </a:pPr>
            <a:r>
              <a:rPr sz="2850" b="1">
                <a:solidFill>
                  <a:srgbClr val="19152E"/>
                </a:solidFill>
              </a:rPr>
              <a:t>A human gate blocks the final CV</a:t>
            </a:r>
          </a:p>
        </p:txBody>
      </p:sp>
      <p:sp>
        <p:nvSpPr>
          <p:cNvPr id="12" name="subtitle">
            <a:extLst xmlns:a="http://schemas.openxmlformats.org/drawingml/2006/main">
              <a:ext uri="{FF2B5EF4-FFF2-40B4-BE49-F238E27FC236}">
                <a16:creationId xmlns:a16="http://schemas.microsoft.com/office/drawing/2014/main" id="{5659FB58-B9F0-4EC0-B9AB-2993718DEE6A}"/>
              </a:ext>
            </a:extLst>
          </p:cNvPr>
          <p:cNvSpPr>
            <a:spLocks xmlns:a="http://schemas.openxmlformats.org/drawingml/2006/main" noGrp="1"/>
          </p:cNvSpPr>
          <p:nvPr/>
        </p:nvSpPr>
        <p:spPr>
          <a:xfrm xmlns:a="http://schemas.openxmlformats.org/drawingml/2006/main">
            <a:off x="552450" y="1209675"/>
            <a:ext cx="933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625D73"/>
                </a:solidFill>
              </a:defRPr>
            </a:pPr>
            <a:r>
              <a:rPr sz="1350" b="0">
                <a:solidFill>
                  <a:srgbClr val="625D73"/>
                </a:solidFill>
              </a:rPr>
              <a:t>Approval protects an external employer-facing action without slowing low-risk research and drafting.</a:t>
            </a:r>
          </a:p>
        </p:txBody>
      </p:sp>
      <p:sp>
        <p:nvSpPr>
          <p:cNvPr id="13" name="retrieve">
            <a:extLst xmlns:a="http://schemas.openxmlformats.org/drawingml/2006/main">
              <a:ext uri="{FF2B5EF4-FFF2-40B4-BE49-F238E27FC236}">
                <a16:creationId xmlns:a16="http://schemas.microsoft.com/office/drawing/2014/main" id="{8314E543-5638-4C05-8564-4431044173DC}"/>
              </a:ext>
            </a:extLst>
          </p:cNvPr>
          <p:cNvSpPr>
            <a:spLocks xmlns:a="http://schemas.openxmlformats.org/drawingml/2006/main" noGrp="1"/>
          </p:cNvSpPr>
          <p:nvPr/>
        </p:nvSpPr>
        <p:spPr>
          <a:xfrm xmlns:a="http://schemas.openxmlformats.org/drawingml/2006/main">
            <a:off x="552450" y="2181225"/>
            <a:ext cx="16859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2383">
            <a:solidFill>
              <a:srgbClr val="BFD3DA"/>
            </a:solidFill>
            <a:prstDash val="solid"/>
          </a:ln>
        </p:spPr>
      </p:sp>
      <p:sp>
        <p:nvSpPr>
          <p:cNvPr id="14" name="match">
            <a:extLst xmlns:a="http://schemas.openxmlformats.org/drawingml/2006/main">
              <a:ext uri="{FF2B5EF4-FFF2-40B4-BE49-F238E27FC236}">
                <a16:creationId xmlns:a16="http://schemas.microsoft.com/office/drawing/2014/main" id="{5B8C0086-1769-435F-9D7B-2EEA746B4178}"/>
              </a:ext>
            </a:extLst>
          </p:cNvPr>
          <p:cNvSpPr>
            <a:spLocks xmlns:a="http://schemas.openxmlformats.org/drawingml/2006/main" noGrp="1"/>
          </p:cNvSpPr>
          <p:nvPr/>
        </p:nvSpPr>
        <p:spPr>
          <a:xfrm xmlns:a="http://schemas.openxmlformats.org/drawingml/2006/main">
            <a:off x="2552700" y="2181225"/>
            <a:ext cx="16859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2383">
            <a:solidFill>
              <a:srgbClr val="BFD3DA"/>
            </a:solidFill>
            <a:prstDash val="solid"/>
          </a:ln>
        </p:spPr>
      </p:sp>
      <p:sp>
        <p:nvSpPr>
          <p:cNvPr id="15" name="validate">
            <a:extLst xmlns:a="http://schemas.openxmlformats.org/drawingml/2006/main">
              <a:ext uri="{FF2B5EF4-FFF2-40B4-BE49-F238E27FC236}">
                <a16:creationId xmlns:a16="http://schemas.microsoft.com/office/drawing/2014/main" id="{3026EDFF-081B-4217-8957-D362A01793DB}"/>
              </a:ext>
            </a:extLst>
          </p:cNvPr>
          <p:cNvSpPr>
            <a:spLocks xmlns:a="http://schemas.openxmlformats.org/drawingml/2006/main" noGrp="1"/>
          </p:cNvSpPr>
          <p:nvPr/>
        </p:nvSpPr>
        <p:spPr>
          <a:xfrm xmlns:a="http://schemas.openxmlformats.org/drawingml/2006/main">
            <a:off x="4552950" y="2181225"/>
            <a:ext cx="16859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2383">
            <a:solidFill>
              <a:srgbClr val="BFD3DA"/>
            </a:solidFill>
            <a:prstDash val="solid"/>
          </a:ln>
        </p:spPr>
      </p:sp>
      <p:sp>
        <p:nvSpPr>
          <p:cNvPr id="16" name="human-gate">
            <a:extLst xmlns:a="http://schemas.openxmlformats.org/drawingml/2006/main">
              <a:ext uri="{FF2B5EF4-FFF2-40B4-BE49-F238E27FC236}">
                <a16:creationId xmlns:a16="http://schemas.microsoft.com/office/drawing/2014/main" id="{7B86BED8-0BF7-4949-8E9A-84740C97F0EC}"/>
              </a:ext>
            </a:extLst>
          </p:cNvPr>
          <p:cNvSpPr>
            <a:spLocks xmlns:a="http://schemas.openxmlformats.org/drawingml/2006/main" noGrp="1"/>
          </p:cNvSpPr>
          <p:nvPr/>
        </p:nvSpPr>
        <p:spPr>
          <a:xfrm xmlns:a="http://schemas.openxmlformats.org/drawingml/2006/main">
            <a:off x="6705600" y="1971675"/>
            <a:ext cx="2209800" cy="1162050"/>
          </a:xfrm>
          <a:prstGeom xmlns:a="http://schemas.openxmlformats.org/drawingml/2006/main" prst="roundRect">
            <a:avLst>
              <a:gd name="adj" fmla="val 9836"/>
            </a:avLst>
          </a:prstGeom>
          <a:solidFill xmlns:a="http://schemas.openxmlformats.org/drawingml/2006/main">
            <a:srgbClr val="7D18C7"/>
          </a:solidFill>
          <a:ln xmlns:a="http://schemas.openxmlformats.org/drawingml/2006/main" w="0">
            <a:noFill/>
            <a:prstDash val="solid"/>
          </a:ln>
        </p:spPr>
      </p:sp>
      <p:sp>
        <p:nvSpPr>
          <p:cNvPr id="17" name="pdf">
            <a:extLst xmlns:a="http://schemas.openxmlformats.org/drawingml/2006/main">
              <a:ext uri="{FF2B5EF4-FFF2-40B4-BE49-F238E27FC236}">
                <a16:creationId xmlns:a16="http://schemas.microsoft.com/office/drawing/2014/main" id="{332C68EC-27F1-4E50-B39B-A5B4EABCDE05}"/>
              </a:ext>
            </a:extLst>
          </p:cNvPr>
          <p:cNvSpPr>
            <a:spLocks xmlns:a="http://schemas.openxmlformats.org/drawingml/2006/main" noGrp="1"/>
          </p:cNvSpPr>
          <p:nvPr/>
        </p:nvSpPr>
        <p:spPr>
          <a:xfrm xmlns:a="http://schemas.openxmlformats.org/drawingml/2006/main">
            <a:off x="9544050" y="2181225"/>
            <a:ext cx="16859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2383">
            <a:solidFill>
              <a:srgbClr val="BFD3DA"/>
            </a:solidFill>
            <a:prstDash val="solid"/>
          </a:ln>
        </p:spPr>
      </p:sp>
      <p:cxnSp>
        <p:nvCxnSpPr>
          <p:cNvPr id="65" name=""/>
          <p:cNvCxnSpPr>
            <a:stCxn xmlns:a="http://schemas.openxmlformats.org/drawingml/2006/main" id="13" idx="3"/>
            <a:endCxn xmlns:a="http://schemas.openxmlformats.org/drawingml/2006/main" id="14" idx="1"/>
          </p:cNvCxnSpPr>
          <p:nvPr/>
        </p:nvCxnSpPr>
        <p:spPr>
          <a:xfrm xmlns:a="http://schemas.openxmlformats.org/drawingml/2006/main">
            <a:off x="2238375" y="2552700"/>
            <a:ext cx="314325" cy="0"/>
          </a:xfrm>
          <a:prstGeom xmlns:a="http://schemas.openxmlformats.org/drawingml/2006/main" prst="straightConnector1">
            <a:avLst/>
          </a:prstGeom>
          <a:ln xmlns:a="http://schemas.openxmlformats.org/drawingml/2006/main" w="20955">
            <a:solidFill>
              <a:srgbClr val="088D96"/>
            </a:solidFill>
            <a:prstDash val="solid"/>
            <a:tailEnd type="arrow" w="med" len="med"/>
          </a:ln>
        </p:spPr>
      </p:cxnSp>
      <p:cxnSp>
        <p:nvCxnSpPr>
          <p:cNvPr id="66" name=""/>
          <p:cNvCxnSpPr>
            <a:stCxn xmlns:a="http://schemas.openxmlformats.org/drawingml/2006/main" id="14" idx="3"/>
            <a:endCxn xmlns:a="http://schemas.openxmlformats.org/drawingml/2006/main" id="15" idx="1"/>
          </p:cNvCxnSpPr>
          <p:nvPr/>
        </p:nvCxnSpPr>
        <p:spPr>
          <a:xfrm xmlns:a="http://schemas.openxmlformats.org/drawingml/2006/main">
            <a:off x="4238625" y="2552700"/>
            <a:ext cx="314325" cy="0"/>
          </a:xfrm>
          <a:prstGeom xmlns:a="http://schemas.openxmlformats.org/drawingml/2006/main" prst="straightConnector1">
            <a:avLst/>
          </a:prstGeom>
          <a:ln xmlns:a="http://schemas.openxmlformats.org/drawingml/2006/main" w="20955">
            <a:solidFill>
              <a:srgbClr val="088D96"/>
            </a:solidFill>
            <a:prstDash val="solid"/>
            <a:tailEnd type="arrow" w="med" len="med"/>
          </a:ln>
        </p:spPr>
      </p:cxnSp>
      <p:cxnSp>
        <p:nvCxnSpPr>
          <p:cNvPr id="67" name=""/>
          <p:cNvCxnSpPr>
            <a:stCxn xmlns:a="http://schemas.openxmlformats.org/drawingml/2006/main" id="15" idx="3"/>
            <a:endCxn xmlns:a="http://schemas.openxmlformats.org/drawingml/2006/main" id="16" idx="1"/>
          </p:cNvCxnSpPr>
          <p:nvPr/>
        </p:nvCxnSpPr>
        <p:spPr>
          <a:xfrm xmlns:a="http://schemas.openxmlformats.org/drawingml/2006/main">
            <a:off x="6238875" y="2552700"/>
            <a:ext cx="466725" cy="0"/>
          </a:xfrm>
          <a:prstGeom xmlns:a="http://schemas.openxmlformats.org/drawingml/2006/main" prst="straightConnector1">
            <a:avLst/>
          </a:prstGeom>
          <a:ln xmlns:a="http://schemas.openxmlformats.org/drawingml/2006/main" w="20955">
            <a:solidFill>
              <a:srgbClr val="7D18C7"/>
            </a:solidFill>
            <a:prstDash val="solid"/>
            <a:tailEnd type="arrow" w="med" len="med"/>
          </a:ln>
        </p:spPr>
      </p:cxnSp>
      <p:cxnSp>
        <p:nvCxnSpPr>
          <p:cNvPr id="68" name=""/>
          <p:cNvCxnSpPr>
            <a:stCxn xmlns:a="http://schemas.openxmlformats.org/drawingml/2006/main" id="16" idx="3"/>
            <a:endCxn xmlns:a="http://schemas.openxmlformats.org/drawingml/2006/main" id="17" idx="1"/>
          </p:cNvCxnSpPr>
          <p:nvPr/>
        </p:nvCxnSpPr>
        <p:spPr>
          <a:xfrm xmlns:a="http://schemas.openxmlformats.org/drawingml/2006/main">
            <a:off x="8915400" y="2552700"/>
            <a:ext cx="628650" cy="0"/>
          </a:xfrm>
          <a:prstGeom xmlns:a="http://schemas.openxmlformats.org/drawingml/2006/main" prst="straightConnector1">
            <a:avLst/>
          </a:prstGeom>
          <a:ln xmlns:a="http://schemas.openxmlformats.org/drawingml/2006/main" w="20955">
            <a:solidFill>
              <a:srgbClr val="2FCF8F"/>
            </a:solidFill>
            <a:prstDash val="solid"/>
            <a:tailEnd type="arrow" w="med" len="med"/>
          </a:ln>
        </p:spPr>
      </p:cxnSp>
      <p:sp>
        <p:nvSpPr>
          <p:cNvPr id="22" name="retrieve-t">
            <a:extLst xmlns:a="http://schemas.openxmlformats.org/drawingml/2006/main">
              <a:ext uri="{FF2B5EF4-FFF2-40B4-BE49-F238E27FC236}">
                <a16:creationId xmlns:a16="http://schemas.microsoft.com/office/drawing/2014/main" id="{83EA2AAE-ECEA-4928-94C5-89064536917B}"/>
              </a:ext>
            </a:extLst>
          </p:cNvPr>
          <p:cNvSpPr>
            <a:spLocks xmlns:a="http://schemas.openxmlformats.org/drawingml/2006/main" noGrp="1"/>
          </p:cNvSpPr>
          <p:nvPr/>
        </p:nvSpPr>
        <p:spPr>
          <a:xfrm xmlns:a="http://schemas.openxmlformats.org/drawingml/2006/main">
            <a:off x="704850" y="2343150"/>
            <a:ext cx="13811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19152E"/>
                </a:solidFill>
              </a:defRPr>
            </a:pPr>
            <a:r>
              <a:rPr sz="1200" b="1">
                <a:solidFill>
                  <a:srgbClr val="19152E"/>
                </a:solidFill>
              </a:rPr>
              <a:t>Retrieve job</a:t>
            </a:r>
          </a:p>
          <a:p xmlns:a="http://schemas.openxmlformats.org/drawingml/2006/main">
            <a:pPr algn="ctr">
              <a:defRPr sz="1200" b="1">
                <a:solidFill>
                  <a:srgbClr val="19152E"/>
                </a:solidFill>
              </a:defRPr>
            </a:pPr>
            <a:r>
              <a:rPr sz="1200" b="1">
                <a:solidFill>
                  <a:srgbClr val="19152E"/>
                </a:solidFill>
              </a:rPr>
              <a:t>evidence</a:t>
            </a:r>
          </a:p>
        </p:txBody>
      </p:sp>
      <p:sp>
        <p:nvSpPr>
          <p:cNvPr id="23" name="match-t">
            <a:extLst xmlns:a="http://schemas.openxmlformats.org/drawingml/2006/main">
              <a:ext uri="{FF2B5EF4-FFF2-40B4-BE49-F238E27FC236}">
                <a16:creationId xmlns:a16="http://schemas.microsoft.com/office/drawing/2014/main" id="{EE029F33-7E7B-4139-96B5-358DCF4AC49B}"/>
              </a:ext>
            </a:extLst>
          </p:cNvPr>
          <p:cNvSpPr>
            <a:spLocks xmlns:a="http://schemas.openxmlformats.org/drawingml/2006/main" noGrp="1"/>
          </p:cNvSpPr>
          <p:nvPr/>
        </p:nvSpPr>
        <p:spPr>
          <a:xfrm xmlns:a="http://schemas.openxmlformats.org/drawingml/2006/main">
            <a:off x="2705100" y="2343150"/>
            <a:ext cx="13811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19152E"/>
                </a:solidFill>
              </a:defRPr>
            </a:pPr>
            <a:r>
              <a:rPr sz="1200" b="1">
                <a:solidFill>
                  <a:srgbClr val="19152E"/>
                </a:solidFill>
              </a:rPr>
              <a:t>Match verified</a:t>
            </a:r>
          </a:p>
          <a:p xmlns:a="http://schemas.openxmlformats.org/drawingml/2006/main">
            <a:pPr algn="ctr">
              <a:defRPr sz="1200" b="1">
                <a:solidFill>
                  <a:srgbClr val="19152E"/>
                </a:solidFill>
              </a:defRPr>
            </a:pPr>
            <a:r>
              <a:rPr sz="1200" b="1">
                <a:solidFill>
                  <a:srgbClr val="19152E"/>
                </a:solidFill>
              </a:rPr>
              <a:t>CV facts</a:t>
            </a:r>
          </a:p>
        </p:txBody>
      </p:sp>
      <p:sp>
        <p:nvSpPr>
          <p:cNvPr id="24" name="validate-t">
            <a:extLst xmlns:a="http://schemas.openxmlformats.org/drawingml/2006/main">
              <a:ext uri="{FF2B5EF4-FFF2-40B4-BE49-F238E27FC236}">
                <a16:creationId xmlns:a16="http://schemas.microsoft.com/office/drawing/2014/main" id="{8AC83A5E-F991-447A-A552-7D09DF3AA39F}"/>
              </a:ext>
            </a:extLst>
          </p:cNvPr>
          <p:cNvSpPr>
            <a:spLocks xmlns:a="http://schemas.openxmlformats.org/drawingml/2006/main" noGrp="1"/>
          </p:cNvSpPr>
          <p:nvPr/>
        </p:nvSpPr>
        <p:spPr>
          <a:xfrm xmlns:a="http://schemas.openxmlformats.org/drawingml/2006/main">
            <a:off x="4705350" y="2343150"/>
            <a:ext cx="13811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19152E"/>
                </a:solidFill>
              </a:defRPr>
            </a:pPr>
            <a:r>
              <a:rPr sz="1200" b="1">
                <a:solidFill>
                  <a:srgbClr val="19152E"/>
                </a:solidFill>
              </a:rPr>
              <a:t>Validate draft</a:t>
            </a:r>
          </a:p>
          <a:p xmlns:a="http://schemas.openxmlformats.org/drawingml/2006/main">
            <a:pPr algn="ctr">
              <a:defRPr sz="1200" b="1">
                <a:solidFill>
                  <a:srgbClr val="19152E"/>
                </a:solidFill>
              </a:defRPr>
            </a:pPr>
            <a:r>
              <a:rPr sz="1200" b="1">
                <a:solidFill>
                  <a:srgbClr val="19152E"/>
                </a:solidFill>
              </a:rPr>
              <a:t>+ fact IDs</a:t>
            </a:r>
          </a:p>
        </p:txBody>
      </p:sp>
      <p:sp>
        <p:nvSpPr>
          <p:cNvPr id="25" name="gate-tag">
            <a:extLst xmlns:a="http://schemas.openxmlformats.org/drawingml/2006/main">
              <a:ext uri="{FF2B5EF4-FFF2-40B4-BE49-F238E27FC236}">
                <a16:creationId xmlns:a16="http://schemas.microsoft.com/office/drawing/2014/main" id="{8BD95AD3-8155-4522-9700-52C556508049}"/>
              </a:ext>
            </a:extLst>
          </p:cNvPr>
          <p:cNvSpPr>
            <a:spLocks xmlns:a="http://schemas.openxmlformats.org/drawingml/2006/main" noGrp="1"/>
          </p:cNvSpPr>
          <p:nvPr/>
        </p:nvSpPr>
        <p:spPr>
          <a:xfrm xmlns:a="http://schemas.openxmlformats.org/drawingml/2006/main">
            <a:off x="6934200" y="2133600"/>
            <a:ext cx="1752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825" b="1">
                <a:solidFill>
                  <a:srgbClr val="C9F7F0"/>
                </a:solidFill>
              </a:defRPr>
            </a:pPr>
            <a:r>
              <a:rPr sz="825" b="1">
                <a:solidFill>
                  <a:srgbClr val="C9F7F0"/>
                </a:solidFill>
              </a:rPr>
              <a:t>REQUIRED CHECKPOINT</a:t>
            </a:r>
          </a:p>
        </p:txBody>
      </p:sp>
      <p:sp>
        <p:nvSpPr>
          <p:cNvPr id="26" name="gate-t">
            <a:extLst xmlns:a="http://schemas.openxmlformats.org/drawingml/2006/main">
              <a:ext uri="{FF2B5EF4-FFF2-40B4-BE49-F238E27FC236}">
                <a16:creationId xmlns:a16="http://schemas.microsoft.com/office/drawing/2014/main" id="{1523DCE4-A5F2-4BAF-B549-9E8E117EFABD}"/>
              </a:ext>
            </a:extLst>
          </p:cNvPr>
          <p:cNvSpPr>
            <a:spLocks xmlns:a="http://schemas.openxmlformats.org/drawingml/2006/main" noGrp="1"/>
          </p:cNvSpPr>
          <p:nvPr/>
        </p:nvSpPr>
        <p:spPr>
          <a:xfrm xmlns:a="http://schemas.openxmlformats.org/drawingml/2006/main">
            <a:off x="6934200" y="2390775"/>
            <a:ext cx="1752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FFFFFF"/>
                </a:solidFill>
              </a:defRPr>
            </a:pPr>
            <a:r>
              <a:rPr sz="1500" b="1">
                <a:solidFill>
                  <a:srgbClr val="FFFFFF"/>
                </a:solidFill>
              </a:rPr>
              <a:t>Human reviews</a:t>
            </a:r>
          </a:p>
          <a:p xmlns:a="http://schemas.openxmlformats.org/drawingml/2006/main">
            <a:pPr algn="ctr">
              <a:defRPr sz="1500" b="1">
                <a:solidFill>
                  <a:srgbClr val="FFFFFF"/>
                </a:solidFill>
              </a:defRPr>
            </a:pPr>
            <a:r>
              <a:rPr sz="1500" b="1">
                <a:solidFill>
                  <a:srgbClr val="FFFFFF"/>
                </a:solidFill>
              </a:rPr>
              <a:t>and decides</a:t>
            </a:r>
          </a:p>
        </p:txBody>
      </p:sp>
      <p:sp>
        <p:nvSpPr>
          <p:cNvPr id="27" name="pdf-t">
            <a:extLst xmlns:a="http://schemas.openxmlformats.org/drawingml/2006/main">
              <a:ext uri="{FF2B5EF4-FFF2-40B4-BE49-F238E27FC236}">
                <a16:creationId xmlns:a16="http://schemas.microsoft.com/office/drawing/2014/main" id="{1EB63321-EA33-4AAC-85F1-450610FB3BA2}"/>
              </a:ext>
            </a:extLst>
          </p:cNvPr>
          <p:cNvSpPr>
            <a:spLocks xmlns:a="http://schemas.openxmlformats.org/drawingml/2006/main" noGrp="1"/>
          </p:cNvSpPr>
          <p:nvPr/>
        </p:nvSpPr>
        <p:spPr>
          <a:xfrm xmlns:a="http://schemas.openxmlformats.org/drawingml/2006/main">
            <a:off x="9696450" y="2343150"/>
            <a:ext cx="13811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19152E"/>
                </a:solidFill>
              </a:defRPr>
            </a:pPr>
            <a:r>
              <a:rPr sz="1200" b="1">
                <a:solidFill>
                  <a:srgbClr val="19152E"/>
                </a:solidFill>
              </a:rPr>
              <a:t>Generate &amp;</a:t>
            </a:r>
          </a:p>
          <a:p xmlns:a="http://schemas.openxmlformats.org/drawingml/2006/main">
            <a:pPr algn="ctr">
              <a:defRPr sz="1200" b="1">
                <a:solidFill>
                  <a:srgbClr val="19152E"/>
                </a:solidFill>
              </a:defRPr>
            </a:pPr>
            <a:r>
              <a:rPr sz="1200" b="1">
                <a:solidFill>
                  <a:srgbClr val="19152E"/>
                </a:solidFill>
              </a:rPr>
              <a:t>download PDF</a:t>
            </a:r>
          </a:p>
        </p:txBody>
      </p:sp>
      <p:sp>
        <p:nvSpPr>
          <p:cNvPr id="28" name="gate-stem">
            <a:extLst xmlns:a="http://schemas.openxmlformats.org/drawingml/2006/main">
              <a:ext uri="{FF2B5EF4-FFF2-40B4-BE49-F238E27FC236}">
                <a16:creationId xmlns:a16="http://schemas.microsoft.com/office/drawing/2014/main" id="{7D73DFD8-83D1-4F7F-9C0C-51787A2A9581}"/>
              </a:ext>
            </a:extLst>
          </p:cNvPr>
          <p:cNvSpPr>
            <a:spLocks xmlns:a="http://schemas.openxmlformats.org/drawingml/2006/main" noGrp="1"/>
          </p:cNvSpPr>
          <p:nvPr/>
        </p:nvSpPr>
        <p:spPr>
          <a:xfrm xmlns:a="http://schemas.openxmlformats.org/drawingml/2006/main">
            <a:off x="7810500" y="3143250"/>
            <a:ext cx="9525" cy="419100"/>
          </a:xfrm>
          <a:prstGeom xmlns:a="http://schemas.openxmlformats.org/drawingml/2006/main" prst="line">
            <a:avLst/>
          </a:prstGeom>
          <a:noFill xmlns:a="http://schemas.openxmlformats.org/drawingml/2006/main"/>
          <a:ln xmlns:a="http://schemas.openxmlformats.org/drawingml/2006/main" w="19050">
            <a:solidFill>
              <a:srgbClr val="7D18C7"/>
            </a:solidFill>
            <a:prstDash val="solid"/>
          </a:ln>
        </p:spPr>
      </p:sp>
      <p:sp>
        <p:nvSpPr>
          <p:cNvPr id="29" name="branch">
            <a:extLst xmlns:a="http://schemas.openxmlformats.org/drawingml/2006/main">
              <a:ext uri="{FF2B5EF4-FFF2-40B4-BE49-F238E27FC236}">
                <a16:creationId xmlns:a16="http://schemas.microsoft.com/office/drawing/2014/main" id="{B29D5789-370C-4FAD-A986-7CB1984D2506}"/>
              </a:ext>
            </a:extLst>
          </p:cNvPr>
          <p:cNvSpPr>
            <a:spLocks xmlns:a="http://schemas.openxmlformats.org/drawingml/2006/main" noGrp="1"/>
          </p:cNvSpPr>
          <p:nvPr/>
        </p:nvSpPr>
        <p:spPr>
          <a:xfrm xmlns:a="http://schemas.openxmlformats.org/drawingml/2006/main">
            <a:off x="6572250" y="3562350"/>
            <a:ext cx="2476500" cy="9525"/>
          </a:xfrm>
          <a:prstGeom xmlns:a="http://schemas.openxmlformats.org/drawingml/2006/main" prst="line">
            <a:avLst/>
          </a:prstGeom>
          <a:noFill xmlns:a="http://schemas.openxmlformats.org/drawingml/2006/main"/>
          <a:ln xmlns:a="http://schemas.openxmlformats.org/drawingml/2006/main" w="19050">
            <a:solidFill>
              <a:srgbClr val="7D18C7"/>
            </a:solidFill>
            <a:prstDash val="solid"/>
          </a:ln>
        </p:spPr>
      </p:sp>
      <p:sp>
        <p:nvSpPr>
          <p:cNvPr id="30" name="branch-APPROVE">
            <a:extLst xmlns:a="http://schemas.openxmlformats.org/drawingml/2006/main">
              <a:ext uri="{FF2B5EF4-FFF2-40B4-BE49-F238E27FC236}">
                <a16:creationId xmlns:a16="http://schemas.microsoft.com/office/drawing/2014/main" id="{7AF331B8-D7CF-4DD9-9772-B9B8CCFBC1C0}"/>
              </a:ext>
            </a:extLst>
          </p:cNvPr>
          <p:cNvSpPr>
            <a:spLocks xmlns:a="http://schemas.openxmlformats.org/drawingml/2006/main" noGrp="1"/>
          </p:cNvSpPr>
          <p:nvPr/>
        </p:nvSpPr>
        <p:spPr>
          <a:xfrm xmlns:a="http://schemas.openxmlformats.org/drawingml/2006/main">
            <a:off x="6762750" y="3562350"/>
            <a:ext cx="9525" cy="171450"/>
          </a:xfrm>
          <a:prstGeom xmlns:a="http://schemas.openxmlformats.org/drawingml/2006/main" prst="line">
            <a:avLst/>
          </a:prstGeom>
          <a:noFill xmlns:a="http://schemas.openxmlformats.org/drawingml/2006/main"/>
          <a:ln xmlns:a="http://schemas.openxmlformats.org/drawingml/2006/main" w="19050">
            <a:solidFill>
              <a:srgbClr val="7D18C7"/>
            </a:solidFill>
            <a:prstDash val="solid"/>
          </a:ln>
        </p:spPr>
      </p:sp>
      <p:sp>
        <p:nvSpPr>
          <p:cNvPr id="31" name="outcome-APPROVE">
            <a:extLst xmlns:a="http://schemas.openxmlformats.org/drawingml/2006/main">
              <a:ext uri="{FF2B5EF4-FFF2-40B4-BE49-F238E27FC236}">
                <a16:creationId xmlns:a16="http://schemas.microsoft.com/office/drawing/2014/main" id="{18D50505-6280-4C71-A270-C70B515191CA}"/>
              </a:ext>
            </a:extLst>
          </p:cNvPr>
          <p:cNvSpPr>
            <a:spLocks xmlns:a="http://schemas.openxmlformats.org/drawingml/2006/main" noGrp="1"/>
          </p:cNvSpPr>
          <p:nvPr/>
        </p:nvSpPr>
        <p:spPr>
          <a:xfrm xmlns:a="http://schemas.openxmlformats.org/drawingml/2006/main">
            <a:off x="6334125" y="3733800"/>
            <a:ext cx="857250" cy="295275"/>
          </a:xfrm>
          <a:prstGeom xmlns:a="http://schemas.openxmlformats.org/drawingml/2006/main" prst="roundRect">
            <a:avLst>
              <a:gd name="adj" fmla="val 38710"/>
            </a:avLst>
          </a:prstGeom>
          <a:solidFill xmlns:a="http://schemas.openxmlformats.org/drawingml/2006/main">
            <a:srgbClr val="2FCF8F"/>
          </a:solidFill>
          <a:ln xmlns:a="http://schemas.openxmlformats.org/drawingml/2006/main" w="0">
            <a:noFill/>
            <a:prstDash val="solid"/>
          </a:ln>
        </p:spPr>
      </p:sp>
      <p:sp>
        <p:nvSpPr>
          <p:cNvPr id="32" name="outcome-label-APPROVE">
            <a:extLst xmlns:a="http://schemas.openxmlformats.org/drawingml/2006/main">
              <a:ext uri="{FF2B5EF4-FFF2-40B4-BE49-F238E27FC236}">
                <a16:creationId xmlns:a16="http://schemas.microsoft.com/office/drawing/2014/main" id="{6AC8907B-D6F9-49C6-AFC0-5FEE1D6D3C72}"/>
              </a:ext>
            </a:extLst>
          </p:cNvPr>
          <p:cNvSpPr>
            <a:spLocks xmlns:a="http://schemas.openxmlformats.org/drawingml/2006/main" noGrp="1"/>
          </p:cNvSpPr>
          <p:nvPr/>
        </p:nvSpPr>
        <p:spPr>
          <a:xfrm xmlns:a="http://schemas.openxmlformats.org/drawingml/2006/main">
            <a:off x="6334125" y="3810000"/>
            <a:ext cx="857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825" b="1">
                <a:solidFill>
                  <a:srgbClr val="FFFFFF"/>
                </a:solidFill>
              </a:defRPr>
            </a:pPr>
            <a:r>
              <a:rPr sz="825" b="1">
                <a:solidFill>
                  <a:srgbClr val="FFFFFF"/>
                </a:solidFill>
              </a:rPr>
              <a:t>APPROVE</a:t>
            </a:r>
          </a:p>
        </p:txBody>
      </p:sp>
      <p:sp>
        <p:nvSpPr>
          <p:cNvPr id="33" name="outcome-copy-APPROVE">
            <a:extLst xmlns:a="http://schemas.openxmlformats.org/drawingml/2006/main">
              <a:ext uri="{FF2B5EF4-FFF2-40B4-BE49-F238E27FC236}">
                <a16:creationId xmlns:a16="http://schemas.microsoft.com/office/drawing/2014/main" id="{34815F20-53B2-4165-AB8B-CEBB62AB0FA9}"/>
              </a:ext>
            </a:extLst>
          </p:cNvPr>
          <p:cNvSpPr>
            <a:spLocks xmlns:a="http://schemas.openxmlformats.org/drawingml/2006/main" noGrp="1"/>
          </p:cNvSpPr>
          <p:nvPr/>
        </p:nvSpPr>
        <p:spPr>
          <a:xfrm xmlns:a="http://schemas.openxmlformats.org/drawingml/2006/main">
            <a:off x="6191250" y="4105275"/>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a:solidFill>
                  <a:srgbClr val="625D73"/>
                </a:solidFill>
              </a:defRPr>
            </a:pPr>
            <a:r>
              <a:rPr sz="900" b="1">
                <a:solidFill>
                  <a:srgbClr val="625D73"/>
                </a:solidFill>
              </a:rPr>
              <a:t>Unlock PDF</a:t>
            </a:r>
          </a:p>
        </p:txBody>
      </p:sp>
      <p:sp>
        <p:nvSpPr>
          <p:cNvPr id="34" name="branch-REVISE">
            <a:extLst xmlns:a="http://schemas.openxmlformats.org/drawingml/2006/main">
              <a:ext uri="{FF2B5EF4-FFF2-40B4-BE49-F238E27FC236}">
                <a16:creationId xmlns:a16="http://schemas.microsoft.com/office/drawing/2014/main" id="{F5DF65C6-A873-42B3-ABD1-70D97FD1DC80}"/>
              </a:ext>
            </a:extLst>
          </p:cNvPr>
          <p:cNvSpPr>
            <a:spLocks xmlns:a="http://schemas.openxmlformats.org/drawingml/2006/main" noGrp="1"/>
          </p:cNvSpPr>
          <p:nvPr/>
        </p:nvSpPr>
        <p:spPr>
          <a:xfrm xmlns:a="http://schemas.openxmlformats.org/drawingml/2006/main">
            <a:off x="8048625" y="3562350"/>
            <a:ext cx="9525" cy="171450"/>
          </a:xfrm>
          <a:prstGeom xmlns:a="http://schemas.openxmlformats.org/drawingml/2006/main" prst="line">
            <a:avLst/>
          </a:prstGeom>
          <a:noFill xmlns:a="http://schemas.openxmlformats.org/drawingml/2006/main"/>
          <a:ln xmlns:a="http://schemas.openxmlformats.org/drawingml/2006/main" w="19050">
            <a:solidFill>
              <a:srgbClr val="7D18C7"/>
            </a:solidFill>
            <a:prstDash val="solid"/>
          </a:ln>
        </p:spPr>
      </p:sp>
      <p:sp>
        <p:nvSpPr>
          <p:cNvPr id="35" name="outcome-REVISE">
            <a:extLst xmlns:a="http://schemas.openxmlformats.org/drawingml/2006/main">
              <a:ext uri="{FF2B5EF4-FFF2-40B4-BE49-F238E27FC236}">
                <a16:creationId xmlns:a16="http://schemas.microsoft.com/office/drawing/2014/main" id="{0336215C-D267-42C7-B135-F2A2884044B6}"/>
              </a:ext>
            </a:extLst>
          </p:cNvPr>
          <p:cNvSpPr>
            <a:spLocks xmlns:a="http://schemas.openxmlformats.org/drawingml/2006/main" noGrp="1"/>
          </p:cNvSpPr>
          <p:nvPr/>
        </p:nvSpPr>
        <p:spPr>
          <a:xfrm xmlns:a="http://schemas.openxmlformats.org/drawingml/2006/main">
            <a:off x="7620000" y="3733800"/>
            <a:ext cx="857250" cy="295275"/>
          </a:xfrm>
          <a:prstGeom xmlns:a="http://schemas.openxmlformats.org/drawingml/2006/main" prst="roundRect">
            <a:avLst>
              <a:gd name="adj" fmla="val 38710"/>
            </a:avLst>
          </a:prstGeom>
          <a:solidFill xmlns:a="http://schemas.openxmlformats.org/drawingml/2006/main">
            <a:srgbClr val="F4B84A"/>
          </a:solidFill>
          <a:ln xmlns:a="http://schemas.openxmlformats.org/drawingml/2006/main" w="0">
            <a:noFill/>
            <a:prstDash val="solid"/>
          </a:ln>
        </p:spPr>
      </p:sp>
      <p:sp>
        <p:nvSpPr>
          <p:cNvPr id="36" name="outcome-label-REVISE">
            <a:extLst xmlns:a="http://schemas.openxmlformats.org/drawingml/2006/main">
              <a:ext uri="{FF2B5EF4-FFF2-40B4-BE49-F238E27FC236}">
                <a16:creationId xmlns:a16="http://schemas.microsoft.com/office/drawing/2014/main" id="{81442361-16B9-4AB5-9E19-35B883B54D8A}"/>
              </a:ext>
            </a:extLst>
          </p:cNvPr>
          <p:cNvSpPr>
            <a:spLocks xmlns:a="http://schemas.openxmlformats.org/drawingml/2006/main" noGrp="1"/>
          </p:cNvSpPr>
          <p:nvPr/>
        </p:nvSpPr>
        <p:spPr>
          <a:xfrm xmlns:a="http://schemas.openxmlformats.org/drawingml/2006/main">
            <a:off x="7620000" y="3810000"/>
            <a:ext cx="857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825" b="1">
                <a:solidFill>
                  <a:srgbClr val="FFFFFF"/>
                </a:solidFill>
              </a:defRPr>
            </a:pPr>
            <a:r>
              <a:rPr sz="825" b="1">
                <a:solidFill>
                  <a:srgbClr val="FFFFFF"/>
                </a:solidFill>
              </a:rPr>
              <a:t>REVISE</a:t>
            </a:r>
          </a:p>
        </p:txBody>
      </p:sp>
      <p:sp>
        <p:nvSpPr>
          <p:cNvPr id="37" name="outcome-copy-REVISE">
            <a:extLst xmlns:a="http://schemas.openxmlformats.org/drawingml/2006/main">
              <a:ext uri="{FF2B5EF4-FFF2-40B4-BE49-F238E27FC236}">
                <a16:creationId xmlns:a16="http://schemas.microsoft.com/office/drawing/2014/main" id="{BEB49301-037C-47D2-ABEF-95A1D11C3B43}"/>
              </a:ext>
            </a:extLst>
          </p:cNvPr>
          <p:cNvSpPr>
            <a:spLocks xmlns:a="http://schemas.openxmlformats.org/drawingml/2006/main" noGrp="1"/>
          </p:cNvSpPr>
          <p:nvPr/>
        </p:nvSpPr>
        <p:spPr>
          <a:xfrm xmlns:a="http://schemas.openxmlformats.org/drawingml/2006/main">
            <a:off x="7477125" y="4105275"/>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a:solidFill>
                  <a:srgbClr val="625D73"/>
                </a:solidFill>
              </a:defRPr>
            </a:pPr>
            <a:r>
              <a:rPr sz="900" b="1">
                <a:solidFill>
                  <a:srgbClr val="625D73"/>
                </a:solidFill>
              </a:rPr>
              <a:t>Return to draft</a:t>
            </a:r>
          </a:p>
        </p:txBody>
      </p:sp>
      <p:sp>
        <p:nvSpPr>
          <p:cNvPr id="38" name="branch-REJECT">
            <a:extLst xmlns:a="http://schemas.openxmlformats.org/drawingml/2006/main">
              <a:ext uri="{FF2B5EF4-FFF2-40B4-BE49-F238E27FC236}">
                <a16:creationId xmlns:a16="http://schemas.microsoft.com/office/drawing/2014/main" id="{A2F69879-CD51-461D-8AB8-A574740C34AF}"/>
              </a:ext>
            </a:extLst>
          </p:cNvPr>
          <p:cNvSpPr>
            <a:spLocks xmlns:a="http://schemas.openxmlformats.org/drawingml/2006/main" noGrp="1"/>
          </p:cNvSpPr>
          <p:nvPr/>
        </p:nvSpPr>
        <p:spPr>
          <a:xfrm xmlns:a="http://schemas.openxmlformats.org/drawingml/2006/main">
            <a:off x="9334500" y="3562350"/>
            <a:ext cx="9525" cy="171450"/>
          </a:xfrm>
          <a:prstGeom xmlns:a="http://schemas.openxmlformats.org/drawingml/2006/main" prst="line">
            <a:avLst/>
          </a:prstGeom>
          <a:noFill xmlns:a="http://schemas.openxmlformats.org/drawingml/2006/main"/>
          <a:ln xmlns:a="http://schemas.openxmlformats.org/drawingml/2006/main" w="19050">
            <a:solidFill>
              <a:srgbClr val="7D18C7"/>
            </a:solidFill>
            <a:prstDash val="solid"/>
          </a:ln>
        </p:spPr>
      </p:sp>
      <p:sp>
        <p:nvSpPr>
          <p:cNvPr id="39" name="outcome-REJECT">
            <a:extLst xmlns:a="http://schemas.openxmlformats.org/drawingml/2006/main">
              <a:ext uri="{FF2B5EF4-FFF2-40B4-BE49-F238E27FC236}">
                <a16:creationId xmlns:a16="http://schemas.microsoft.com/office/drawing/2014/main" id="{5611BE33-F4DD-493B-AB1A-BDA1B68BD187}"/>
              </a:ext>
            </a:extLst>
          </p:cNvPr>
          <p:cNvSpPr>
            <a:spLocks xmlns:a="http://schemas.openxmlformats.org/drawingml/2006/main" noGrp="1"/>
          </p:cNvSpPr>
          <p:nvPr/>
        </p:nvSpPr>
        <p:spPr>
          <a:xfrm xmlns:a="http://schemas.openxmlformats.org/drawingml/2006/main">
            <a:off x="8905875" y="3733800"/>
            <a:ext cx="857250" cy="295275"/>
          </a:xfrm>
          <a:prstGeom xmlns:a="http://schemas.openxmlformats.org/drawingml/2006/main" prst="roundRect">
            <a:avLst>
              <a:gd name="adj" fmla="val 38710"/>
            </a:avLst>
          </a:prstGeom>
          <a:solidFill xmlns:a="http://schemas.openxmlformats.org/drawingml/2006/main">
            <a:srgbClr val="E95A72"/>
          </a:solidFill>
          <a:ln xmlns:a="http://schemas.openxmlformats.org/drawingml/2006/main" w="0">
            <a:noFill/>
            <a:prstDash val="solid"/>
          </a:ln>
        </p:spPr>
      </p:sp>
      <p:sp>
        <p:nvSpPr>
          <p:cNvPr id="40" name="outcome-label-REJECT">
            <a:extLst xmlns:a="http://schemas.openxmlformats.org/drawingml/2006/main">
              <a:ext uri="{FF2B5EF4-FFF2-40B4-BE49-F238E27FC236}">
                <a16:creationId xmlns:a16="http://schemas.microsoft.com/office/drawing/2014/main" id="{E1A93DB8-D213-4E08-9525-BD351754B10C}"/>
              </a:ext>
            </a:extLst>
          </p:cNvPr>
          <p:cNvSpPr>
            <a:spLocks xmlns:a="http://schemas.openxmlformats.org/drawingml/2006/main" noGrp="1"/>
          </p:cNvSpPr>
          <p:nvPr/>
        </p:nvSpPr>
        <p:spPr>
          <a:xfrm xmlns:a="http://schemas.openxmlformats.org/drawingml/2006/main">
            <a:off x="8905875" y="3810000"/>
            <a:ext cx="857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825" b="1">
                <a:solidFill>
                  <a:srgbClr val="FFFFFF"/>
                </a:solidFill>
              </a:defRPr>
            </a:pPr>
            <a:r>
              <a:rPr sz="825" b="1">
                <a:solidFill>
                  <a:srgbClr val="FFFFFF"/>
                </a:solidFill>
              </a:rPr>
              <a:t>REJECT</a:t>
            </a:r>
          </a:p>
        </p:txBody>
      </p:sp>
      <p:sp>
        <p:nvSpPr>
          <p:cNvPr id="41" name="outcome-copy-REJECT">
            <a:extLst xmlns:a="http://schemas.openxmlformats.org/drawingml/2006/main">
              <a:ext uri="{FF2B5EF4-FFF2-40B4-BE49-F238E27FC236}">
                <a16:creationId xmlns:a16="http://schemas.microsoft.com/office/drawing/2014/main" id="{FF2C404C-E73D-46DC-AEE7-5A971E12CCD4}"/>
              </a:ext>
            </a:extLst>
          </p:cNvPr>
          <p:cNvSpPr>
            <a:spLocks xmlns:a="http://schemas.openxmlformats.org/drawingml/2006/main" noGrp="1"/>
          </p:cNvSpPr>
          <p:nvPr/>
        </p:nvSpPr>
        <p:spPr>
          <a:xfrm xmlns:a="http://schemas.openxmlformats.org/drawingml/2006/main">
            <a:off x="8763000" y="4105275"/>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a:solidFill>
                  <a:srgbClr val="625D73"/>
                </a:solidFill>
              </a:defRPr>
            </a:pPr>
            <a:r>
              <a:rPr sz="900" b="1">
                <a:solidFill>
                  <a:srgbClr val="625D73"/>
                </a:solidFill>
              </a:rPr>
              <a:t>Stop the run</a:t>
            </a:r>
          </a:p>
        </p:txBody>
      </p:sp>
      <p:sp>
        <p:nvSpPr>
          <p:cNvPr id="42" name="details-head">
            <a:extLst xmlns:a="http://schemas.openxmlformats.org/drawingml/2006/main">
              <a:ext uri="{FF2B5EF4-FFF2-40B4-BE49-F238E27FC236}">
                <a16:creationId xmlns:a16="http://schemas.microsoft.com/office/drawing/2014/main" id="{BEA6CCBC-7C6E-46F0-9947-E3287A928188}"/>
              </a:ext>
            </a:extLst>
          </p:cNvPr>
          <p:cNvSpPr>
            <a:spLocks xmlns:a="http://schemas.openxmlformats.org/drawingml/2006/main" noGrp="1"/>
          </p:cNvSpPr>
          <p:nvPr/>
        </p:nvSpPr>
        <p:spPr>
          <a:xfrm xmlns:a="http://schemas.openxmlformats.org/drawingml/2006/main">
            <a:off x="552450" y="461962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88D96"/>
                </a:solidFill>
              </a:defRPr>
            </a:pPr>
            <a:r>
              <a:rPr sz="1125" b="1">
                <a:solidFill>
                  <a:srgbClr val="088D96"/>
                </a:solidFill>
              </a:rPr>
              <a:t>WHAT THE REVIEWER SEES</a:t>
            </a:r>
          </a:p>
        </p:txBody>
      </p:sp>
      <p:sp>
        <p:nvSpPr>
          <p:cNvPr id="43" name="details-body">
            <a:extLst xmlns:a="http://schemas.openxmlformats.org/drawingml/2006/main">
              <a:ext uri="{FF2B5EF4-FFF2-40B4-BE49-F238E27FC236}">
                <a16:creationId xmlns:a16="http://schemas.microsoft.com/office/drawing/2014/main" id="{EF975B9A-0664-4369-8013-474D3B4D748D}"/>
              </a:ext>
            </a:extLst>
          </p:cNvPr>
          <p:cNvSpPr>
            <a:spLocks xmlns:a="http://schemas.openxmlformats.org/drawingml/2006/main" noGrp="1"/>
          </p:cNvSpPr>
          <p:nvPr/>
        </p:nvSpPr>
        <p:spPr>
          <a:xfrm xmlns:a="http://schemas.openxmlformats.org/drawingml/2006/main">
            <a:off x="552450" y="4914900"/>
            <a:ext cx="6238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19152E"/>
                </a:solidFill>
              </a:defRPr>
            </a:pPr>
            <a:r>
              <a:rPr sz="1275" b="1">
                <a:solidFill>
                  <a:srgbClr val="19152E"/>
                </a:solidFill>
              </a:rPr>
              <a:t>Target job + company  ·  tailored profile and bullets  ·  stable fact IDs  ·  validation result</a:t>
            </a:r>
          </a:p>
        </p:txBody>
      </p:sp>
      <p:sp>
        <p:nvSpPr>
          <p:cNvPr id="44" name="reason-head">
            <a:extLst xmlns:a="http://schemas.openxmlformats.org/drawingml/2006/main">
              <a:ext uri="{FF2B5EF4-FFF2-40B4-BE49-F238E27FC236}">
                <a16:creationId xmlns:a16="http://schemas.microsoft.com/office/drawing/2014/main" id="{5062E091-0B9D-4FAB-8683-75EB1CE20BF9}"/>
              </a:ext>
            </a:extLst>
          </p:cNvPr>
          <p:cNvSpPr>
            <a:spLocks xmlns:a="http://schemas.openxmlformats.org/drawingml/2006/main" noGrp="1"/>
          </p:cNvSpPr>
          <p:nvPr/>
        </p:nvSpPr>
        <p:spPr>
          <a:xfrm xmlns:a="http://schemas.openxmlformats.org/drawingml/2006/main">
            <a:off x="7239000" y="4619625"/>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7D18C7"/>
                </a:solidFill>
              </a:defRPr>
            </a:pPr>
            <a:r>
              <a:rPr sz="1125" b="1">
                <a:solidFill>
                  <a:srgbClr val="7D18C7"/>
                </a:solidFill>
              </a:rPr>
              <a:t>WHY HUMAN ATTENTION IS REQUIRED</a:t>
            </a:r>
          </a:p>
        </p:txBody>
      </p:sp>
      <p:sp>
        <p:nvSpPr>
          <p:cNvPr id="45" name="reason-body">
            <a:extLst xmlns:a="http://schemas.openxmlformats.org/drawingml/2006/main">
              <a:ext uri="{FF2B5EF4-FFF2-40B4-BE49-F238E27FC236}">
                <a16:creationId xmlns:a16="http://schemas.microsoft.com/office/drawing/2014/main" id="{4ACE2034-841A-4ED0-BCE7-F8313F1358FD}"/>
              </a:ext>
            </a:extLst>
          </p:cNvPr>
          <p:cNvSpPr>
            <a:spLocks xmlns:a="http://schemas.openxmlformats.org/drawingml/2006/main" noGrp="1"/>
          </p:cNvSpPr>
          <p:nvPr/>
        </p:nvSpPr>
        <p:spPr>
          <a:xfrm xmlns:a="http://schemas.openxmlformats.org/drawingml/2006/main">
            <a:off x="7239000" y="4914900"/>
            <a:ext cx="4095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9152E"/>
                </a:solidFill>
              </a:defRPr>
            </a:pPr>
            <a:r>
              <a:rPr sz="1200" b="0">
                <a:solidFill>
                  <a:srgbClr val="19152E"/>
                </a:solidFill>
              </a:rPr>
              <a:t>The CV reaches an external employer. Ambiguous wording or invented claims can damage credibility and are hard to undo.</a:t>
            </a:r>
          </a:p>
        </p:txBody>
      </p:sp>
      <p:sp>
        <p:nvSpPr>
          <p:cNvPr id="46" name="implemented">
            <a:extLst xmlns:a="http://schemas.openxmlformats.org/drawingml/2006/main">
              <a:ext uri="{FF2B5EF4-FFF2-40B4-BE49-F238E27FC236}">
                <a16:creationId xmlns:a16="http://schemas.microsoft.com/office/drawing/2014/main" id="{B4E9D979-E6D9-40D0-B408-D1B3FB9ADE11}"/>
              </a:ext>
            </a:extLst>
          </p:cNvPr>
          <p:cNvSpPr>
            <a:spLocks xmlns:a="http://schemas.openxmlformats.org/drawingml/2006/main" noGrp="1"/>
          </p:cNvSpPr>
          <p:nvPr/>
        </p:nvSpPr>
        <p:spPr>
          <a:xfrm xmlns:a="http://schemas.openxmlformats.org/drawingml/2006/main">
            <a:off x="552450" y="5734050"/>
            <a:ext cx="10782300" cy="419100"/>
          </a:xfrm>
          <a:prstGeom xmlns:a="http://schemas.openxmlformats.org/drawingml/2006/main" prst="roundRect">
            <a:avLst>
              <a:gd name="adj" fmla="val 27273"/>
            </a:avLst>
          </a:prstGeom>
          <a:solidFill xmlns:a="http://schemas.openxmlformats.org/drawingml/2006/main">
            <a:srgbClr val="E8FAFB"/>
          </a:solidFill>
          <a:ln xmlns:a="http://schemas.openxmlformats.org/drawingml/2006/main" w="0">
            <a:noFill/>
            <a:prstDash val="solid"/>
          </a:ln>
        </p:spPr>
      </p:sp>
      <p:sp>
        <p:nvSpPr>
          <p:cNvPr id="47" name="implemented-text">
            <a:extLst xmlns:a="http://schemas.openxmlformats.org/drawingml/2006/main">
              <a:ext uri="{FF2B5EF4-FFF2-40B4-BE49-F238E27FC236}">
                <a16:creationId xmlns:a16="http://schemas.microsoft.com/office/drawing/2014/main" id="{8FEB6600-133D-49B4-B86E-CC33222660D3}"/>
              </a:ext>
            </a:extLst>
          </p:cNvPr>
          <p:cNvSpPr>
            <a:spLocks xmlns:a="http://schemas.openxmlformats.org/drawingml/2006/main" noGrp="1"/>
          </p:cNvSpPr>
          <p:nvPr/>
        </p:nvSpPr>
        <p:spPr>
          <a:xfrm xmlns:a="http://schemas.openxmlformats.org/drawingml/2006/main">
            <a:off x="742950" y="5848350"/>
            <a:ext cx="103822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088D96"/>
                </a:solidFill>
              </a:defRPr>
            </a:pPr>
            <a:r>
              <a:rPr sz="1050" b="1">
                <a:solidFill>
                  <a:srgbClr val="088D96"/>
                </a:solidFill>
              </a:rPr>
              <a:t>IMPLEMENTED: persistent checkpoint  ·  approve / revise / reject  ·  PDF remains blocked until approval</a:t>
            </a:r>
          </a:p>
        </p:txBody>
      </p:sp>
    </p:spTree>
    <p:extLst>
      <p:ext uri="{BB962C8B-B14F-4D97-AF65-F5344CB8AC3E}">
        <p14:creationId xmlns:p14="http://schemas.microsoft.com/office/powerpoint/2010/main" val="3434960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2026-08-28T20:04:57.1200000Z</dcterms:created>
  <dcterms:modified xsi:type="dcterms:W3CDTF">2026-08-28T20:04:57.1200000Z</dcterms:modified>
</coreProperties>
</file>